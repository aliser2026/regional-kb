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B5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2494" y="0"/>
            <a:ext cx="6869507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023" y="2351058"/>
            <a:ext cx="11978640" cy="103105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kumimoji="0" lang="zh-CN" altLang="en-US" sz="8000" b="1" i="0" u="none" strike="noStrike" cap="none" spc="-319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Helvetica Neue" panose="02000503000000020004"/>
              </a:defRPr>
            </a:lvl1pPr>
          </a:lstStyle>
          <a:p>
            <a:r>
              <a:rPr kumimoji="1" lang="zh-CN" altLang="en-US" dirty="0"/>
              <a:t>单击此处编辑标题样式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8180" y="3617954"/>
            <a:ext cx="10134600" cy="7940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kumimoji="0" lang="zh-CN" altLang="en-US" sz="3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Source Han Sans CN Light" panose="020B0500000000000000" charset="-122"/>
                <a:sym typeface="Source Han Sans CN Light" panose="020B05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6" name="图片 5" descr="资源 1@2x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69780" y="667341"/>
            <a:ext cx="2066608" cy="1860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13" y="226053"/>
            <a:ext cx="1899786" cy="106863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688559" y="5531195"/>
            <a:ext cx="3386931" cy="62957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3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Source Han Sans CN Regular" panose="020B0600000000000000" charset="-122"/>
                <a:sym typeface="Helvetica Neue" panose="02000503000000020004"/>
              </a:defRPr>
            </a:lvl1pPr>
            <a:lvl2pPr marL="0" marR="0" indent="0" algn="l" defTabSz="825500" rtl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3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Source Han Sans CN Regular" panose="020B0600000000000000" charset="-122"/>
                <a:sym typeface="Helvetica Neue" panose="02000503000000020004"/>
              </a:defRPr>
            </a:lvl2pPr>
            <a:lvl3pPr marL="0" marR="0" indent="0" algn="l" defTabSz="825500" rtl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3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Source Han Sans CN Regular" panose="020B0600000000000000" charset="-122"/>
                <a:sym typeface="Helvetica Neue" panose="02000503000000020004"/>
              </a:defRPr>
            </a:lvl3pPr>
            <a:lvl4pPr marL="0" marR="0" indent="0" algn="l" defTabSz="825500" rtl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3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Source Han Sans CN Regular" panose="020B0600000000000000" charset="-122"/>
                <a:sym typeface="Helvetica Neue" panose="02000503000000020004"/>
              </a:defRPr>
            </a:lvl4pPr>
            <a:lvl5pPr marL="0" marR="0" indent="0" algn="l" defTabSz="825500" rtl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3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Source Han Sans CN Regular" panose="020B0600000000000000" charset="-122"/>
                <a:sym typeface="Helvetica Neue" panose="02000503000000020004"/>
              </a:defRPr>
            </a:lvl5pPr>
          </a:lstStyle>
          <a:p>
            <a:pPr algn="l" defTabSz="825500">
              <a:defRPr sz="4600">
                <a:solidFill>
                  <a:srgbClr val="FFFFFF"/>
                </a:solidFill>
                <a:latin typeface="Source Han Sans CN Regular" panose="020B0600000000000000" charset="-122"/>
                <a:ea typeface="Source Han Sans CN Regular" panose="020B0600000000000000" charset="-122"/>
                <a:cs typeface="Source Han Sans CN Regular" panose="020B0600000000000000" charset="-122"/>
                <a:sym typeface="Source Han Sans CN Regular" panose="020B0600000000000000" charset="-122"/>
              </a:defRPr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戴永明 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2023.03.10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image" Target="../media/image50.svg"/><Relationship Id="rId11" Type="http://schemas.openxmlformats.org/officeDocument/2006/relationships/image" Target="../media/image49.png"/><Relationship Id="rId10" Type="http://schemas.openxmlformats.org/officeDocument/2006/relationships/image" Target="../media/image48.svg"/><Relationship Id="rId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2.svg"/><Relationship Id="rId1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svg"/><Relationship Id="rId1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svg"/><Relationship Id="rId1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0.svg"/><Relationship Id="rId1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position: 'relative' }}&gt;&#10;  {/* 全幅背景图 */}&#10;  &lt;Image src=&quot;assets/hero_cover.png&quot; style={{ width: '100%', height: '100%', objectFit: 'cover', position: 'absolute', top: 0, left: 0 }} /&gt;&#10;  {/* 暗色蒙版 */}&#10;  &lt;Box style={{ position: 'absolute', top: 0, left: 0, width: '100%', height: '100%', background: 'linear-gradient(90deg, rgba(27,58,92,0.85) 0%, rgba(27,58,92,0.55) 50%, rgba(27,58,92,0.2) 100%)' }} /&gt;&#10;  {/* 左上角小标签 */}&#10;  &lt;Box style={{ position: 'absolute', top: 50, left: 60, flexDirection: 'row', alignItems: 'center', gap: 10 }}&gt;&#10;    &lt;FAIcon name=&quot;graduation-cap&quot; style={{ fill: '#E8602C', width: 28, height: 28 }} /&gt;&#10;    &lt;Text style={{ fontSize: 16, color: '#FAF8F5', fontWeight: 'bold', letterSpacing: 2 }}&gt;团队内训 · 实战打法&lt;/Text&gt;&#10;  &lt;/Box&gt;&#10;  {/* 主标题区 */}&#10;  &lt;Box style={{ position: 'absolute', top: 180, left: 60, flexDirection: 'column', gap: 20 }}&gt;&#10;    &lt;Box style={{ flexDirection: 'row', alignItems: 'center', gap: 16 }}&gt;&#10;      &lt;Box style={{ width: 6, height: 60, background: '#E8602C' }} /&gt;&#10;      &lt;Text style={{ fontSize: 64, color: '#FFFFFF', fontWeight: 'bold', lineHeight: 1.15 }}&gt;开学即战&lt;/Text&gt;&#10;    &lt;/Box&gt;&#10;    &lt;Text style={{ fontSize: 42, color: '#FFFFFF', fontWeight: 'bold', lineHeight: 1.2, marginLeft: 22 }}&gt;纸质物料与活动预约应战打法&lt;/Text&gt;&#10;    &lt;Box style={{ flexDirection: 'row', alignItems: 'center', gap: 12, marginTop: 30, marginLeft: 22 }}&gt;&#10;      &lt;Box style={{ width: 40, height: 2, background: '#E8602C' }} /&gt;&#10;      &lt;Text style={{ fontSize: 20, color: '#F5A623', fontWeight: 'bold' }}&gt;作战地图 · 物料与活动预约 · 过往数据复盘&lt;/Text&gt;&#10;    &lt;/Box&gt;&#10;  &lt;/Box&gt;&#10;  {/* 右下角培训时间 */}&#10;  &lt;Box style={{ position: 'absolute', bottom: 60, right: 60, flexDirection: 'row', alignItems: 'center', gap: 20, background: 'rgba(255,255,255,0.12)', padding: 16, borderRadius: 8, borderLeft: '4px solid #E8602C' }}&gt;&#10;    &lt;FAIcon name=&quot;clock&quot; style={{ fill: '#E8602C', width: 28, height: 28 }} /&gt;&#10;    &lt;Box style={{ flexDirection: 'column' }}&gt;&#10;      &lt;Text style={{ fontSize: 14, color: '#FAF8F5', opacity: 0.8 }}&gt;培训时长&lt;/Text&gt;&#10;      &lt;Text style={{ fontSize: 20, color: '#FFFFFF', fontWeight: 'bold' }}&gt;20-30 分钟&lt;/Text&gt;&#10;    &lt;/Box&gt;&#10;  &lt;/Box&gt;&#10;  {/* 左下角落款 */}&#10;  &lt;Box style={{ position: 'absolute', bottom: 50, left: 60, flexDirection: 'row', alignItems: 'center', gap: 10 }}&gt;&#10;    &lt;Box style={{ width: 32, height: 32, background: '#E8602C', borderRadius: 6, justifyContent: 'center', alignItems: 'center' }}&gt;&#10;      &lt;Text style={{ fontSize: 16, color: '#FFFFFF', fontWeight: 'bold' }}&gt;盒&lt;/Text&gt;&#10;    &lt;/Box&gt;&#10;    &lt;Text style={{ fontSize: 14, color: '#FAF8F5', opacity: 0.7 }}&gt;小盒老师 · 教学服务团队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20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余梦怡 2026年8月20日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71500" y="1857375"/>
            <a:ext cx="57150" cy="5715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781050" y="1714500"/>
            <a:ext cx="24384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>
                <a:solidFill>
                  <a:srgbClr val="FFFFFF"/>
                </a:solidFill>
                <a:latin typeface="微软雅黑"/>
                <a:ea typeface="微软雅黑"/>
              </a:rPr>
              <a:t>开学即战</a:t>
            </a:r>
            <a:endParaRPr lang="zh-CN" sz="48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81050" y="2752725"/>
            <a:ext cx="5200650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FFFFFF"/>
                </a:solidFill>
                <a:latin typeface="微软雅黑"/>
                <a:ea typeface="微软雅黑"/>
              </a:rPr>
              <a:t>纸质物料与活动预约应战打法</a:t>
            </a:r>
            <a:endParaRPr lang="zh-CN" sz="315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1050" y="3914775"/>
            <a:ext cx="381000" cy="1905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276350" y="3810000"/>
            <a:ext cx="3581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b="1">
                <a:solidFill>
                  <a:srgbClr val="F5A623"/>
                </a:solidFill>
                <a:latin typeface="微软雅黑"/>
                <a:ea typeface="微软雅黑"/>
              </a:rPr>
              <a:t>作战地图</a:t>
            </a:r>
            <a:r>
              <a:rPr lang="en-US" b="1">
                <a:solidFill>
                  <a:srgbClr val="F5A623"/>
                </a:solidFill>
                <a:latin typeface="微软雅黑"/>
                <a:ea typeface="微软雅黑"/>
              </a:rPr>
              <a:t> · </a:t>
            </a:r>
            <a:r>
              <a:rPr lang="zh-CN" b="1">
                <a:solidFill>
                  <a:srgbClr val="F5A623"/>
                </a:solidFill>
                <a:latin typeface="微软雅黑"/>
                <a:ea typeface="微软雅黑"/>
              </a:rPr>
              <a:t>物料与活动预约</a:t>
            </a:r>
            <a:r>
              <a:rPr lang="en-US" b="1">
                <a:solidFill>
                  <a:srgbClr val="F5A623"/>
                </a:solidFill>
                <a:latin typeface="微软雅黑"/>
                <a:ea typeface="微软雅黑"/>
              </a:rPr>
              <a:t> · </a:t>
            </a:r>
            <a:r>
              <a:rPr lang="zh-CN" b="1">
                <a:solidFill>
                  <a:srgbClr val="F5A623"/>
                </a:solidFill>
                <a:latin typeface="微软雅黑"/>
                <a:ea typeface="微软雅黑"/>
              </a:rPr>
              <a:t>过往数据复盘</a:t>
            </a:r>
            <a:endParaRPr lang="zh-CN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9934575" y="5591175"/>
            <a:ext cx="1724025" cy="695325"/>
          </a:xfrm>
          <a:custGeom>
            <a:avLst/>
            <a:gdLst/>
            <a:ahLst/>
            <a:cxnLst/>
            <a:pathLst>
              <a:path w="181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647700" y="613410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3 }}&gt;CONTENTS · 培训目录&lt;/Text&gt;&#10;      &lt;Text style={{ fontSize: 36, color: '#1B3A5C', fontWeight: 'bold' }}&gt;三大模块 · 20-30分钟实战培训&lt;/Text&gt;&#10;    &lt;/Box&gt;&#10;  &lt;/Box&gt;&#10;  {/* B区 内容区 */}&#10;  &lt;Box style={{ height: 510, flexDirection: 'row', gap: 30, paddingTop: 20 }}&gt;&#10;    {/* 卡片1 */}&#10;    &lt;Box style={{ flex: 1, background: '#FFFFFF', borderRadius: 16, padding: 36, flexDirection: 'column', borderTop: '5px solid #E8602C', boxShadow: '0 4px 20px rgba(0,0,0,0.06)' }}&gt;&#10;      &lt;Box style={{ width: 64, height: 64, background: '#FDF0E8', borderRadius: 16, justifyContent: 'center', alignItems: 'center', marginBottom: 20 }}&gt;&#10;        &lt;Text style={{ fontSize: 28, color: '#E8602C', fontWeight: 'bold' }}&gt;01&lt;/Text&gt;&#10;      &lt;/Box&gt;&#10;      &lt;Text style={{ fontSize: 22, color: '#1B3A5C', fontWeight: 'bold', marginBottom: 12, lineHeight: 1.4 }}&gt;作战地图&lt;/Text&gt;&#10;      &lt;Text style={{ fontSize: 18, color: '#2A2A2A', fontWeight: 'bold', marginBottom: 16, lineHeight: 1.5 }}&gt;计划制作与全量沟通摸排&lt;/Text&gt;&#10;      &lt;Text style={{ fontSize: 16, color: '#5A5A5A', lineHeight: 1.7 }}&gt;制作开学作战计划，全量电话+微信沟通校领导，摸排口算本、拼音本需求；面对不同情况灵活应答，达成初步认同。&lt;/Text&gt;&#10;    &lt;/Box&gt;&#10;    {/* 卡片2 */}&#10;    &lt;Box style={{ flex: 1, background: '#FFFFFF', borderRadius: 16, padding: 36, flexDirection: 'column', borderTop: '5px solid #1B3A5C', boxShadow: '0 4px 20px rgba(0,0,0,0.06)' }}&gt;&#10;      &lt;Box style={{ width: 64, height: 64, background: '#EBF0F5', borderRadius: 16, justifyContent: 'center', alignItems: 'center', marginBottom: 20 }}&gt;&#10;        &lt;Text style={{ fontSize: 28, color: '#1B3A5C', fontWeight: 'bold' }}&gt;02&lt;/Text&gt;&#10;      &lt;/Box&gt;&#10;      &lt;Text style={{ fontSize: 22, color: '#1B3A5C', fontWeight: 'bold', marginBottom: 12, lineHeight: 1.4 }}&gt;纸质物料/活动预约&lt;/Text&gt;&#10;      &lt;Text style={{ fontSize: 18, color: '#2A2A2A', fontWeight: 'bold', marginBottom: 16, lineHeight: 1.5 }}&gt;传递物料价值，收集秋季热点&lt;/Text&gt;&#10;      &lt;Text style={{ fontSize: 16, color: '#5A5A5A', lineHeight: 1.7 }}&gt;讲透口算本、拼音本的物料价值与领课触达流程；学科节、省测等秋季热点活动的收集、反馈与服务预约。&lt;/Text&gt;&#10;    &lt;/Box&gt;&#10;    {/* 卡片3 */}&#10;    &lt;Box style={{ flex: 1, background: '#FFFFFF', borderRadius: 16, padding: 36, flexDirection: 'column', borderTop: '5px solid #2BB673', boxShadow: '0 4px 20px rgba(0,0,0,0.06)' }}&gt;&#10;      &lt;Box style={{ width: 64, height: 64, background: '#E8F5EE', borderRadius: 16, justifyContent: 'center', alignItems: 'center', marginBottom: 20 }}&gt;&#10;        &lt;Text style={{ fontSize: 28, color: '#2BB673', fontWeight: 'bold' }}&gt;03&lt;/Text&gt;&#10;      &lt;/Box&gt;&#10;      &lt;Text style={{ fontSize: 22, color: '#1B3A5C', fontWeight: 'bold', marginBottom: 12, lineHeight: 1.4 }}&gt;过往数据分析&lt;/Text&gt;&#10;      &lt;Text style={{ fontSize: 18, color: '#2A2A2A', fontWeight: 'bold', marginBottom: 16, lineHeight: 1.5 }}&gt;实物本对业绩的帮助&lt;/Text&gt;&#10;      &lt;Text style={{ fontSize: 16, color: '#5A5A5A', lineHeight: 1.7 }}&gt;复盘26年春季述职数据：开学口算本落地一阶段达成约1万领课，实物本路径贡献近半业绩，用数据坚定打法信心。&lt;/Text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0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矩形 2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269" name="矩形 268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E8602C"/>
                </a:solidFill>
                <a:latin typeface="微软雅黑"/>
                <a:ea typeface="微软雅黑"/>
              </a:rPr>
              <a:t>CONTENTS · </a:t>
            </a:r>
            <a:r>
              <a:rPr lang="zh-CN" sz="1050" b="1" spc="225">
                <a:solidFill>
                  <a:srgbClr val="E8602C"/>
                </a:solidFill>
                <a:latin typeface="微软雅黑"/>
                <a:ea typeface="微软雅黑"/>
              </a:rPr>
              <a:t>培训目录</a:t>
            </a:r>
            <a:endParaRPr lang="zh-CN" sz="1050" b="1" spc="225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三大模块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20-30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分钟实战</a:t>
            </a:r>
            <a:r>
              <a:rPr lang="en-US" altLang="zh-CN" sz="2700" b="1">
                <a:solidFill>
                  <a:srgbClr val="1B3A5C"/>
                </a:solidFill>
                <a:latin typeface="微软雅黑"/>
                <a:ea typeface="微软雅黑"/>
              </a:rPr>
              <a:t>路径</a:t>
            </a:r>
            <a:endParaRPr lang="en-US" alt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72" name="圆角矩形 271"/>
          <p:cNvSpPr/>
          <p:nvPr/>
        </p:nvSpPr>
        <p:spPr>
          <a:xfrm>
            <a:off x="571500" y="1381125"/>
            <a:ext cx="3495675" cy="4667250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3" name="任意多边形 272"/>
          <p:cNvSpPr/>
          <p:nvPr/>
        </p:nvSpPr>
        <p:spPr>
          <a:xfrm>
            <a:off x="571500" y="1381125"/>
            <a:ext cx="3495675" cy="4667250"/>
          </a:xfrm>
          <a:custGeom>
            <a:avLst/>
            <a:gdLst/>
            <a:ahLst/>
            <a:cxnLst/>
            <a:pathLst>
              <a:path w="367" h="490">
                <a:moveTo>
                  <a:pt x="352" y="0"/>
                </a:moveTo>
                <a:cubicBezTo>
                  <a:pt x="359" y="0"/>
                  <a:pt x="365" y="6"/>
                  <a:pt x="367" y="13"/>
                </a:cubicBezTo>
                <a:cubicBezTo>
                  <a:pt x="365" y="8"/>
                  <a:pt x="361" y="5"/>
                  <a:pt x="356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51" y="0"/>
                </a:ln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274" name="圆角矩形 273"/>
          <p:cNvSpPr/>
          <p:nvPr/>
        </p:nvSpPr>
        <p:spPr>
          <a:xfrm>
            <a:off x="914400" y="172402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DF0E8"/>
          </a:solidFill>
        </p:spPr>
        <p:txBody>
          <a:bodyPr/>
          <a:p/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066800" y="1866900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E8602C"/>
                </a:solidFill>
                <a:latin typeface="微软雅黑"/>
                <a:ea typeface="微软雅黑"/>
              </a:rPr>
              <a:t>01</a:t>
            </a:r>
            <a:endParaRPr lang="en-US" sz="21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914400" y="2524125"/>
            <a:ext cx="2809875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作战地图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914400" y="2990850"/>
            <a:ext cx="280987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A2A2A"/>
                </a:solidFill>
                <a:latin typeface="微软雅黑"/>
                <a:ea typeface="微软雅黑"/>
              </a:rPr>
              <a:t>计划制作与全量沟通摸排</a:t>
            </a:r>
            <a:endParaRPr lang="zh-CN" sz="1350" b="1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914400" y="3457575"/>
            <a:ext cx="280987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微软雅黑"/>
                <a:ea typeface="微软雅黑"/>
              </a:rPr>
              <a:t>制作开学作战计划，全量电话</a:t>
            </a:r>
            <a:r>
              <a:rPr lang="en-US" sz="1200">
                <a:solidFill>
                  <a:srgbClr val="5A5A5A"/>
                </a:solidFill>
                <a:latin typeface="微软雅黑"/>
                <a:ea typeface="微软雅黑"/>
              </a:rPr>
              <a:t>+</a:t>
            </a:r>
            <a:r>
              <a:rPr lang="zh-CN" sz="1200">
                <a:solidFill>
                  <a:srgbClr val="5A5A5A"/>
                </a:solidFill>
                <a:latin typeface="微软雅黑"/>
                <a:ea typeface="微软雅黑"/>
              </a:rPr>
              <a:t>微信沟通校领导，摸排口算本、拼音本需求；面对不同情况灵活应答，达成初步认同。</a:t>
            </a:r>
            <a:endParaRPr lang="zh-CN" sz="120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279" name="圆角矩形 278"/>
          <p:cNvSpPr/>
          <p:nvPr/>
        </p:nvSpPr>
        <p:spPr>
          <a:xfrm>
            <a:off x="4352925" y="1381125"/>
            <a:ext cx="3486150" cy="46672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0" name="任意多边形 279"/>
          <p:cNvSpPr/>
          <p:nvPr/>
        </p:nvSpPr>
        <p:spPr>
          <a:xfrm>
            <a:off x="4352925" y="1381125"/>
            <a:ext cx="3486150" cy="4667250"/>
          </a:xfrm>
          <a:custGeom>
            <a:avLst/>
            <a:gdLst/>
            <a:ahLst/>
            <a:cxnLst/>
            <a:pathLst>
              <a:path w="366" h="490">
                <a:moveTo>
                  <a:pt x="351" y="0"/>
                </a:moveTo>
                <a:cubicBezTo>
                  <a:pt x="358" y="0"/>
                  <a:pt x="364" y="6"/>
                  <a:pt x="366" y="13"/>
                </a:cubicBezTo>
                <a:cubicBezTo>
                  <a:pt x="364" y="8"/>
                  <a:pt x="360" y="5"/>
                  <a:pt x="355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50" y="0"/>
                </a:ln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281" name="圆角矩形 280"/>
          <p:cNvSpPr/>
          <p:nvPr/>
        </p:nvSpPr>
        <p:spPr>
          <a:xfrm>
            <a:off x="4695825" y="172402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BF0F5"/>
          </a:soli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4848225" y="1866900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B3A5C"/>
                </a:solidFill>
                <a:latin typeface="微软雅黑"/>
                <a:ea typeface="微软雅黑"/>
              </a:rPr>
              <a:t>02</a:t>
            </a:r>
            <a:endParaRPr lang="en-US" sz="21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4695825" y="2524125"/>
            <a:ext cx="280035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纸质物料</a:t>
            </a:r>
            <a:r>
              <a:rPr lang="en-US" sz="1650" b="1">
                <a:solidFill>
                  <a:srgbClr val="1B3A5C"/>
                </a:solidFill>
                <a:latin typeface="微软雅黑"/>
                <a:ea typeface="微软雅黑"/>
              </a:rPr>
              <a:t>/</a:t>
            </a: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活动预约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4695825" y="2990850"/>
            <a:ext cx="28003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A2A2A"/>
                </a:solidFill>
                <a:latin typeface="微软雅黑"/>
                <a:ea typeface="微软雅黑"/>
              </a:rPr>
              <a:t>传递物料价值，收集秋季热点</a:t>
            </a:r>
            <a:endParaRPr lang="zh-CN" sz="1350" b="1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4695825" y="3457575"/>
            <a:ext cx="28003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微软雅黑"/>
                <a:ea typeface="微软雅黑"/>
              </a:rPr>
              <a:t>讲透口算本、拼音本的物料价值与领课触达流程；学科节、省测等秋季热点活动的收集、反馈与服务预约。</a:t>
            </a:r>
            <a:endParaRPr lang="zh-CN" sz="120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8124825" y="1381125"/>
            <a:ext cx="3495675" cy="4667250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7" name="任意多边形 286"/>
          <p:cNvSpPr/>
          <p:nvPr/>
        </p:nvSpPr>
        <p:spPr>
          <a:xfrm>
            <a:off x="8124825" y="1381125"/>
            <a:ext cx="3495675" cy="4667250"/>
          </a:xfrm>
          <a:custGeom>
            <a:avLst/>
            <a:gdLst/>
            <a:ahLst/>
            <a:cxnLst/>
            <a:pathLst>
              <a:path w="367" h="490">
                <a:moveTo>
                  <a:pt x="352" y="0"/>
                </a:moveTo>
                <a:cubicBezTo>
                  <a:pt x="359" y="0"/>
                  <a:pt x="365" y="6"/>
                  <a:pt x="367" y="13"/>
                </a:cubicBezTo>
                <a:cubicBezTo>
                  <a:pt x="365" y="8"/>
                  <a:pt x="361" y="5"/>
                  <a:pt x="356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51" y="0"/>
                </a:lnTo>
                <a:close/>
              </a:path>
            </a:pathLst>
          </a:custGeom>
          <a:solidFill>
            <a:srgbClr val="2BB673"/>
          </a:solidFill>
        </p:spPr>
        <p:txBody>
          <a:bodyPr/>
          <a:p/>
        </p:txBody>
      </p:sp>
      <p:sp>
        <p:nvSpPr>
          <p:cNvPr id="288" name="圆角矩形 287"/>
          <p:cNvSpPr/>
          <p:nvPr/>
        </p:nvSpPr>
        <p:spPr>
          <a:xfrm>
            <a:off x="8467725" y="172402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8F5EE"/>
          </a:solidFill>
        </p:spPr>
        <p:txBody>
          <a:bodyPr/>
          <a:p/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620125" y="1866900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BB673"/>
                </a:solidFill>
                <a:latin typeface="微软雅黑"/>
                <a:ea typeface="微软雅黑"/>
              </a:rPr>
              <a:t>03</a:t>
            </a:r>
            <a:endParaRPr lang="en-US" sz="2100" b="1">
              <a:solidFill>
                <a:srgbClr val="2BB673"/>
              </a:solidFill>
              <a:latin typeface="微软雅黑"/>
              <a:ea typeface="微软雅黑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8467725" y="2524125"/>
            <a:ext cx="2809875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过往数据分析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467725" y="2990850"/>
            <a:ext cx="280987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A2A2A"/>
                </a:solidFill>
                <a:latin typeface="微软雅黑"/>
                <a:ea typeface="微软雅黑"/>
              </a:rPr>
              <a:t>实物本对业绩的帮助</a:t>
            </a:r>
            <a:endParaRPr lang="zh-CN" sz="1350" b="1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467725" y="3457575"/>
            <a:ext cx="280987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微软雅黑"/>
                <a:ea typeface="微软雅黑"/>
              </a:rPr>
              <a:t>复盘</a:t>
            </a:r>
            <a:r>
              <a:rPr lang="en-US" sz="1200">
                <a:solidFill>
                  <a:srgbClr val="5A5A5A"/>
                </a:solidFill>
                <a:latin typeface="微软雅黑"/>
                <a:ea typeface="微软雅黑"/>
              </a:rPr>
              <a:t>26</a:t>
            </a:r>
            <a:r>
              <a:rPr lang="zh-CN" sz="1200">
                <a:solidFill>
                  <a:srgbClr val="5A5A5A"/>
                </a:solidFill>
                <a:latin typeface="微软雅黑"/>
                <a:ea typeface="微软雅黑"/>
              </a:rPr>
              <a:t>年春季述职数据：开学口算本落地一阶段达成约</a:t>
            </a:r>
            <a:r>
              <a:rPr lang="en-US" sz="1200">
                <a:solidFill>
                  <a:srgbClr val="5A5A5A"/>
                </a:solidFill>
                <a:latin typeface="微软雅黑"/>
                <a:ea typeface="微软雅黑"/>
              </a:rPr>
              <a:t>1</a:t>
            </a:r>
            <a:r>
              <a:rPr lang="zh-CN" sz="1200">
                <a:solidFill>
                  <a:srgbClr val="5A5A5A"/>
                </a:solidFill>
                <a:latin typeface="微软雅黑"/>
                <a:ea typeface="微软雅黑"/>
              </a:rPr>
              <a:t>万领课，实物本路径贡献近半业绩，用数据坚定打法信心。</a:t>
            </a:r>
            <a:endParaRPr lang="zh-CN" sz="120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293" name="图片 29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02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 descr="&lt;Slide style={{ width: '1280px', height: '720px', padding: 0, position: 'relative', background: '#E8602C' }}&gt;&#10;  {/* 渐变背景 */}&#10;  &lt;Box style={{ position: 'absolute', top: 0, left: 0, width: '100%', height: '100%', background: 'linear-gradient(135deg, #E8602C 0%, #F5A623 100%)' }} /&gt;&#10;  {/* 装饰几何元素 */}&#10;  &lt;Box style={{ position: 'absolute', top: 0, right: 0, width: 500, height: 500, background: 'rgba(255,255,255,0.08)', borderRadius: '50%', transform: 'translate(200px, -200px)' }} /&gt;&#10;  &lt;Box style={{ position: 'absolute', bottom: 0, left: 0, width: 300, height: 300, background: 'rgba(255,255,255,0.06)', borderRadius: '50%', transform: 'translate(-100px, 100px)' }} /&gt;&#10;  {/* 顶部小标签 */}&#10;  &lt;Box style={{ position: 'absolute', top: 60, left: 80, flexDirection: 'row', alignItems: 'center', gap: 12 }}&gt;&#10;    &lt;Box style={{ width: 40, height: 2, background: '#FFFFFF' }} /&gt;&#10;    &lt;Text style={{ fontSize: 16, color: '#FFFFFF', fontWeight: 'bold', letterSpacing: 3, opacity: 0.9 }}&gt;PART 01 · 作战地图&lt;/Text&gt;&#10;  &lt;/Box&gt;&#10;  {/* 大字编号 */}&#10;  &lt;Box style={{ position: 'absolute', top: 150, left: 80, flexDirection: 'row', alignItems: 'flex-end', gap: 30 }}&gt;&#10;    &lt;Text style={{ fontSize: 160, color: '#FFFFFF', fontWeight: 'bold', lineHeight: 1, opacity: 0.95 }}&gt;01&lt;/Text&gt;&#10;    &lt;Box style={{ width: 4, height: 120, background: '#FFFFFF', opacity: 0.6, marginBottom: 20 }} /&gt;&#10;  &lt;/Box&gt;&#10;  {/* 标题 */}&#10;  &lt;Box style={{ position: 'absolute', top: 380, left: 80, flexDirection: 'column', gap: 16 }}&gt;&#10;    &lt;Text style={{ fontSize: 44, color: '#FFFFFF', fontWeight: 'bold', lineHeight: 1.3 }}&gt;计划制作与全量沟通摸排&lt;/Text&gt;&#10;    &lt;Text style={{ fontSize: 28, color: '#F5A623', fontWeight: 'bold', lineHeight: 1.3, opacity: 0.95 }}&gt;— 先胜而后战&lt;/Text&gt;&#10;  &lt;/Box&gt;&#10;  {/* 引导句 */}&#10;  &lt;Box style={{ position: 'absolute', bottom: 100, left: 80, flexDirection: 'row', alignItems: 'center', gap: 14 }}&gt;&#10;    &lt;FAIcon name=&quot;phone&quot; style={{ fill: '#FFFFFF', width: 22, height: 22 }} /&gt;&#10;    &lt;Text style={{ fontSize: 20, color: '#FFFFFF', opacity: 0.9 }}&gt;计划制作 → 全量电话/微信沟通 → 灵活应答 → 达成初步认同&lt;/Text&gt;&#10;  &lt;/Box&gt;&#10;  {/* 右下角小提示 */}&#10;  &lt;Box style={{ position: 'absolute', bottom: 50, right: 60, flexDirection: 'row', alignItems: 'center', gap: 8 }}&gt;&#10;    &lt;Text style={{ fontSize: 14, color: '#FFFFFF', opacity: 0.6 }}&gt;0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 2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298" name="矩形 2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p/>
        </p:txBody>
      </p:sp>
      <p:sp>
        <p:nvSpPr>
          <p:cNvPr id="299" name="任意多边形 298"/>
          <p:cNvSpPr/>
          <p:nvPr/>
        </p:nvSpPr>
        <p:spPr>
          <a:xfrm>
            <a:off x="9334500" y="-1905000"/>
            <a:ext cx="4762500" cy="4762500"/>
          </a:xfrm>
          <a:custGeom>
            <a:avLst/>
            <a:gdLst/>
            <a:ahLst/>
            <a:cxnLst/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300" name="任意多边形 299"/>
          <p:cNvSpPr/>
          <p:nvPr/>
        </p:nvSpPr>
        <p:spPr>
          <a:xfrm>
            <a:off x="-952500" y="4953000"/>
            <a:ext cx="2857500" cy="2857500"/>
          </a:xfrm>
          <a:custGeom>
            <a:avLst/>
            <a:gdLst/>
            <a:ahLst/>
            <a:cxnLst/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</p:spPr>
        <p:txBody>
          <a:bodyPr/>
          <a:p/>
        </p:txBody>
      </p:sp>
      <p:sp>
        <p:nvSpPr>
          <p:cNvPr id="301" name="矩形 300"/>
          <p:cNvSpPr/>
          <p:nvPr/>
        </p:nvSpPr>
        <p:spPr>
          <a:xfrm>
            <a:off x="762000" y="657225"/>
            <a:ext cx="381000" cy="190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1257300" y="571500"/>
            <a:ext cx="1781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PART 01 · </a:t>
            </a:r>
            <a:r>
              <a:rPr lang="zh-CN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作战地图</a:t>
            </a:r>
            <a:endParaRPr lang="zh-CN" sz="1200" b="1" spc="225">
              <a:solidFill>
                <a:srgbClr val="FFFFFF">
                  <a:alpha val="9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762000" y="1428750"/>
            <a:ext cx="169545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</a:rPr>
              <a:t>01</a:t>
            </a:r>
            <a:endParaRPr lang="en-US" sz="12000" b="1">
              <a:solidFill>
                <a:srgbClr val="FFFFFF">
                  <a:alpha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2743200" y="1924050"/>
            <a:ext cx="38100" cy="1143000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/>
          <a:p/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762000" y="3619500"/>
            <a:ext cx="461010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FFFFFF"/>
                </a:solidFill>
                <a:latin typeface="微软雅黑"/>
                <a:ea typeface="微软雅黑"/>
              </a:rPr>
              <a:t>计划制作与全量沟通摸排</a:t>
            </a:r>
            <a:endParaRPr lang="zh-CN" sz="3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762000" y="4429125"/>
            <a:ext cx="4610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— </a:t>
            </a:r>
            <a:r>
              <a:rPr lang="zh-CN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先胜而后战</a:t>
            </a:r>
            <a:endParaRPr lang="zh-CN" sz="2100" b="1">
              <a:solidFill>
                <a:srgbClr val="F5A623">
                  <a:alpha val="95000"/>
                </a:srgbClr>
              </a:solidFill>
              <a:latin typeface="微软雅黑"/>
              <a:ea typeface="微软雅黑"/>
            </a:endParaRPr>
          </a:p>
        </p:txBody>
      </p:sp>
      <p:pic>
        <p:nvPicPr>
          <p:cNvPr id="307" name="图片 30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686425"/>
            <a:ext cx="209550" cy="209550"/>
          </a:xfrm>
          <a:prstGeom prst="rect">
            <a:avLst/>
          </a:prstGeom>
        </p:spPr>
      </p:pic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104900" y="5676900"/>
            <a:ext cx="5133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计划制作</a:t>
            </a:r>
            <a:r>
              <a:rPr lang="en-US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 → </a:t>
            </a: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全量电话</a:t>
            </a:r>
            <a:r>
              <a:rPr lang="en-US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/</a:t>
            </a: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微信沟通</a:t>
            </a:r>
            <a:r>
              <a:rPr lang="en-US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 → </a:t>
            </a: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灵活应答</a:t>
            </a:r>
            <a:r>
              <a:rPr lang="en-US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 → </a:t>
            </a: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达成初步认同</a:t>
            </a:r>
            <a:endParaRPr lang="zh-CN" sz="1500">
              <a:solidFill>
                <a:srgbClr val="FFFFFF">
                  <a:alpha val="9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1210925" y="6219825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03 / 16</a:t>
            </a:r>
            <a:endParaRPr lang="en-US" sz="1050">
              <a:solidFill>
                <a:srgbClr val="FFFFFF">
                  <a:alpha val="60000"/>
                </a:srgb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1 · 作战地图 / 计划制作&lt;/Text&gt;&#10;      &lt;Text style={{ fontSize: 36, color: '#1B3A5C', fontWeight: 'bold' }}&gt;开学作战计划 4 步走 · 先胜而后战&lt;/Text&gt;&#10;    &lt;/Box&gt;&#10;  &lt;/Box&gt;&#10;  {/* B区 内容区 */}&#10;  &lt;Box style={{ height: 510, flexDirection: 'column', gap: 20, paddingTop: 20 }}&gt;&#10;    {/* 四步流程卡片 */}&#10;    &lt;Box style={{ flex: 1, flexDirection: 'row', gap: 16, alignItems: 'stretch' }}&gt;&#10;      {[&#10;        { n: '01', icon: 'users', color: '#E8602C', title: '盘名单', desc: '全量盘点区域学校名单，标注老客户（领过口算本）与新客户，覆盖教研联系人与校KP两类角色，一个不漏。' },&#10;        { n: '02', icon: 'bullseye', color: '#1B3A5C', title: '定目标', desc: '参照上学期渗透数据制定领课目标，聚焦一、二年级新教材年级——口算本与拼音本需求最集中的入口。' },&#10;        { n: '03', icon: 'clipboard-list', color: '#2BB673', title: '备物料', desc: '开学前完成口算本资源登记与新教材课件资源登记，提前制作领取表格，订足数量实物本。' },&#10;        { n: '04', icon: 'calendar-check', color: '#F5A623', title: '排节奏', desc: '开学前全量沟通摸排 → 开学第一时间下发实物本+领课话术 → 领课次日反馈数据。' },&#10;      ].map((step, idx, arr) =&gt; (&#10;        &lt;Box key={step.n} style={{ flex: 1, flexDirection: 'row', alignItems: 'center' }}&gt;&#10;          &lt;Box style={{ flex: 1, background: '#FFFFFF', borderRadius: 12, padding: 24, flexDirection: 'column', height: '100%', boxShadow: '0 4px 20px rgba(0,0,0,0.06)', borderTop: '4px solid ' + step.color }}&gt;&#10;            &lt;Box style={{ width: 52, height: 52, background: step.color, borderRadius: 12, justifyContent: 'center', alignItems: 'center', marginBottom: 16 }}&gt;&#10;              &lt;FAIcon name={step.icon} style={{ fill: '#FFFFFF', width: 24, height: 24 }} /&gt;&#10;            &lt;/Box&gt;&#10;            &lt;Text style={{ fontSize: 13, color: step.color, fontWeight: 'bold', marginBottom: 4 }}&gt;STEP {step.n}&lt;/Text&gt;&#10;            &lt;Text style={{ fontSize: 22, color: '#1B3A5C', fontWeight: 'bold', marginBottom: 10 }}&gt;{step.title}&lt;/Text&gt;&#10;            &lt;Text style={{ fontSize: 14, color: '#5A5A5A', lineHeight: 1.6 }}&gt;{step.desc}&lt;/Text&gt;&#10;          &lt;/Box&gt;&#10;          {idx &lt; arr.length - 1 &amp;&amp; (&#10;            &lt;FAIcon name=&quot;arrow-right&quot; style={{ fill: '#E8602C', width: 18, height: 18, marginLeft: 4, marginRight: 4, flexShrink: 0 }} /&gt;&#10;          )}&#10;        &lt;/Box&gt;&#10;      ))}&#10;    &lt;/Box&gt;&#10;    {/* 底部提示条 */}&#10;    &lt;Box style={{ height: 90, background: '#1B3A5C', borderRadius: 12, padding: 24, flexDirection: 'row', alignItems: 'center', gap: 20 }}&gt;&#10;      &lt;FAIcon name=&quot;lightbulb&quot; style={{ fill: '#F5A623', width: 28, height: 28 }} /&gt;&#10;      &lt;Text style={{ fontSize: 17, color: '#FFFFFF', lineHeight: 1.5, flex: 1 }}&gt;计划的意义：暑期就完成口算本资源登记与新教材课件登记——等开学再准备，就慢人一步；计划做得细，开学才能&quot;即战&quot;。&lt;/Text&gt;&#10;      &lt;Box style={{ background: '#E8602C', borderRadius: 8, padding: '10px 18px' }}&gt;&#10;        &lt;Text style={{ fontSize: 16, color: '#FFFFFF', fontWeight: 'bold' }}&gt;每天邀约 ≥ 5 所学校&lt;/Text&gt;&#10;      &lt;/Box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0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矩形 3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312" name="矩形 311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01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作战地图</a:t>
            </a: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 /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计划制作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开学作战计划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4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步走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先胜而后战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571500" y="1371600"/>
            <a:ext cx="2400300" cy="3619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6" name="任意多边形 315"/>
          <p:cNvSpPr/>
          <p:nvPr/>
        </p:nvSpPr>
        <p:spPr>
          <a:xfrm>
            <a:off x="571500" y="1371600"/>
            <a:ext cx="2400300" cy="3619500"/>
          </a:xfrm>
          <a:custGeom>
            <a:avLst/>
            <a:gdLst/>
            <a:ahLst/>
            <a:cxnLst/>
            <a:pathLst>
              <a:path w="252" h="380">
                <a:moveTo>
                  <a:pt x="241" y="0"/>
                </a:moveTo>
                <a:cubicBezTo>
                  <a:pt x="246" y="0"/>
                  <a:pt x="251" y="4"/>
                  <a:pt x="252" y="10"/>
                </a:cubicBezTo>
                <a:cubicBezTo>
                  <a:pt x="251" y="6"/>
                  <a:pt x="248" y="4"/>
                  <a:pt x="24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40" y="0"/>
                </a:ln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317" name="圆角矩形 316"/>
          <p:cNvSpPr/>
          <p:nvPr/>
        </p:nvSpPr>
        <p:spPr>
          <a:xfrm>
            <a:off x="800100" y="16002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8602C"/>
          </a:solidFill>
        </p:spPr>
        <p:txBody>
          <a:bodyPr/>
          <a:p/>
        </p:txBody>
      </p:sp>
      <p:pic>
        <p:nvPicPr>
          <p:cNvPr id="318" name="图片 3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450" y="1733550"/>
            <a:ext cx="228600" cy="228600"/>
          </a:xfrm>
          <a:prstGeom prst="rect">
            <a:avLst/>
          </a:prstGeom>
        </p:spPr>
      </p:pic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800100" y="2247900"/>
            <a:ext cx="1943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STEP 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01</a:t>
            </a:r>
            <a:endParaRPr lang="en-US" sz="97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800100" y="2438400"/>
            <a:ext cx="1943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盘名单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800100" y="2790825"/>
            <a:ext cx="19431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全量盘点区域学校名单，标注老客户（领过口算本）与新客户，覆盖教研联系人与校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KP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两类角色，一个不漏。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322" name="图片 3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9900" y="3057525"/>
            <a:ext cx="171450" cy="171450"/>
          </a:xfrm>
          <a:prstGeom prst="rect">
            <a:avLst/>
          </a:prstGeom>
        </p:spPr>
      </p:pic>
      <p:sp>
        <p:nvSpPr>
          <p:cNvPr id="323" name="圆角矩形 322"/>
          <p:cNvSpPr/>
          <p:nvPr/>
        </p:nvSpPr>
        <p:spPr>
          <a:xfrm>
            <a:off x="3371850" y="1371600"/>
            <a:ext cx="2400300" cy="3619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3371850" y="1371600"/>
            <a:ext cx="2400300" cy="3619500"/>
          </a:xfrm>
          <a:custGeom>
            <a:avLst/>
            <a:gdLst/>
            <a:ahLst/>
            <a:cxnLst/>
            <a:pathLst>
              <a:path w="252" h="380">
                <a:moveTo>
                  <a:pt x="241" y="0"/>
                </a:moveTo>
                <a:cubicBezTo>
                  <a:pt x="246" y="0"/>
                  <a:pt x="251" y="4"/>
                  <a:pt x="252" y="10"/>
                </a:cubicBezTo>
                <a:cubicBezTo>
                  <a:pt x="251" y="6"/>
                  <a:pt x="248" y="4"/>
                  <a:pt x="24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40" y="0"/>
                </a:ln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325" name="圆角矩形 324"/>
          <p:cNvSpPr/>
          <p:nvPr/>
        </p:nvSpPr>
        <p:spPr>
          <a:xfrm>
            <a:off x="3600450" y="16002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B3A5C"/>
          </a:solidFill>
        </p:spPr>
        <p:txBody>
          <a:bodyPr/>
          <a:p/>
        </p:txBody>
      </p:sp>
      <p:pic>
        <p:nvPicPr>
          <p:cNvPr id="326" name="图片 32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3800" y="1733550"/>
            <a:ext cx="228600" cy="228600"/>
          </a:xfrm>
          <a:prstGeom prst="rect">
            <a:avLst/>
          </a:prstGeom>
        </p:spPr>
      </p:pic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3600450" y="2247900"/>
            <a:ext cx="1943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3A5C"/>
                </a:solidFill>
                <a:latin typeface="微软雅黑"/>
                <a:ea typeface="微软雅黑"/>
              </a:rPr>
              <a:t>STEP </a:t>
            </a:r>
            <a:r>
              <a:rPr lang="en-US" sz="975" b="1">
                <a:solidFill>
                  <a:srgbClr val="1B3A5C"/>
                </a:solidFill>
                <a:latin typeface="微软雅黑"/>
                <a:ea typeface="微软雅黑"/>
              </a:rPr>
              <a:t>02</a:t>
            </a:r>
            <a:endParaRPr lang="en-US" sz="9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3600450" y="2438400"/>
            <a:ext cx="1943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定目标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3600450" y="2790825"/>
            <a:ext cx="19431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参照上学期渗透数据制定领课目标，聚焦一、二年级新教材年级——口算本与拼音本需求最集中的入口。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330" name="图片 3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250" y="3057525"/>
            <a:ext cx="171450" cy="171450"/>
          </a:xfrm>
          <a:prstGeom prst="rect">
            <a:avLst/>
          </a:prstGeom>
        </p:spPr>
      </p:pic>
      <p:sp>
        <p:nvSpPr>
          <p:cNvPr id="331" name="圆角矩形 330"/>
          <p:cNvSpPr/>
          <p:nvPr/>
        </p:nvSpPr>
        <p:spPr>
          <a:xfrm>
            <a:off x="6172200" y="1371600"/>
            <a:ext cx="2400300" cy="3619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2" name="任意多边形 331"/>
          <p:cNvSpPr/>
          <p:nvPr/>
        </p:nvSpPr>
        <p:spPr>
          <a:xfrm>
            <a:off x="6172200" y="1371600"/>
            <a:ext cx="2400300" cy="3619500"/>
          </a:xfrm>
          <a:custGeom>
            <a:avLst/>
            <a:gdLst/>
            <a:ahLst/>
            <a:cxnLst/>
            <a:pathLst>
              <a:path w="252" h="380">
                <a:moveTo>
                  <a:pt x="241" y="0"/>
                </a:moveTo>
                <a:cubicBezTo>
                  <a:pt x="246" y="0"/>
                  <a:pt x="251" y="4"/>
                  <a:pt x="252" y="10"/>
                </a:cubicBezTo>
                <a:cubicBezTo>
                  <a:pt x="251" y="6"/>
                  <a:pt x="248" y="4"/>
                  <a:pt x="24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40" y="0"/>
                </a:lnTo>
                <a:close/>
              </a:path>
            </a:pathLst>
          </a:custGeom>
          <a:solidFill>
            <a:srgbClr val="2BB673"/>
          </a:solidFill>
        </p:spPr>
        <p:txBody>
          <a:bodyPr/>
          <a:p/>
        </p:txBody>
      </p:sp>
      <p:sp>
        <p:nvSpPr>
          <p:cNvPr id="333" name="圆角矩形 332"/>
          <p:cNvSpPr/>
          <p:nvPr/>
        </p:nvSpPr>
        <p:spPr>
          <a:xfrm>
            <a:off x="6400800" y="16002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2BB673"/>
          </a:solidFill>
        </p:spPr>
        <p:txBody>
          <a:bodyPr/>
          <a:p/>
        </p:txBody>
      </p:sp>
      <p:pic>
        <p:nvPicPr>
          <p:cNvPr id="334" name="图片 33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4150" y="1733550"/>
            <a:ext cx="228600" cy="228600"/>
          </a:xfrm>
          <a:prstGeom prst="rect">
            <a:avLst/>
          </a:prstGeom>
        </p:spPr>
      </p:pic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6400800" y="2247900"/>
            <a:ext cx="1943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BB673"/>
                </a:solidFill>
                <a:latin typeface="微软雅黑"/>
                <a:ea typeface="微软雅黑"/>
              </a:rPr>
              <a:t>STEP </a:t>
            </a:r>
            <a:r>
              <a:rPr lang="en-US" sz="975" b="1">
                <a:solidFill>
                  <a:srgbClr val="2BB673"/>
                </a:solidFill>
                <a:latin typeface="微软雅黑"/>
                <a:ea typeface="微软雅黑"/>
              </a:rPr>
              <a:t>03</a:t>
            </a:r>
            <a:endParaRPr lang="en-US" sz="975" b="1">
              <a:solidFill>
                <a:srgbClr val="2BB673"/>
              </a:solidFill>
              <a:latin typeface="微软雅黑"/>
              <a:ea typeface="微软雅黑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400800" y="2438400"/>
            <a:ext cx="1943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备物料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6400800" y="2790825"/>
            <a:ext cx="19431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开学前完成口算本资源登记与新教材课件资源登记，提前制作领取表格，订足数量实物本。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338" name="图片 3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3057525"/>
            <a:ext cx="171450" cy="171450"/>
          </a:xfrm>
          <a:prstGeom prst="rect">
            <a:avLst/>
          </a:prstGeom>
        </p:spPr>
      </p:pic>
      <p:sp>
        <p:nvSpPr>
          <p:cNvPr id="339" name="圆角矩形 338"/>
          <p:cNvSpPr/>
          <p:nvPr/>
        </p:nvSpPr>
        <p:spPr>
          <a:xfrm>
            <a:off x="8972550" y="1371600"/>
            <a:ext cx="2647950" cy="36195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40" name="任意多边形 339"/>
          <p:cNvSpPr/>
          <p:nvPr/>
        </p:nvSpPr>
        <p:spPr>
          <a:xfrm>
            <a:off x="8972550" y="1371600"/>
            <a:ext cx="2647950" cy="3619500"/>
          </a:xfrm>
          <a:custGeom>
            <a:avLst/>
            <a:gdLst/>
            <a:ahLst/>
            <a:cxnLst/>
            <a:pathLst>
              <a:path w="278" h="380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6"/>
                  <a:pt x="274" y="4"/>
                  <a:pt x="27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5A623"/>
          </a:solidFill>
        </p:spPr>
        <p:txBody>
          <a:bodyPr/>
          <a:p/>
        </p:txBody>
      </p:sp>
      <p:sp>
        <p:nvSpPr>
          <p:cNvPr id="341" name="圆角矩形 340"/>
          <p:cNvSpPr/>
          <p:nvPr/>
        </p:nvSpPr>
        <p:spPr>
          <a:xfrm>
            <a:off x="9201150" y="16002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5A623"/>
          </a:solidFill>
        </p:spPr>
        <p:txBody>
          <a:bodyPr/>
          <a:p/>
        </p:txBody>
      </p:sp>
      <p:pic>
        <p:nvPicPr>
          <p:cNvPr id="342" name="图片 34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4500" y="1733550"/>
            <a:ext cx="228600" cy="228600"/>
          </a:xfrm>
          <a:prstGeom prst="rect">
            <a:avLst/>
          </a:prstGeom>
        </p:spPr>
      </p:pic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9201150" y="2247900"/>
            <a:ext cx="2190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5A623"/>
                </a:solidFill>
                <a:latin typeface="微软雅黑"/>
                <a:ea typeface="微软雅黑"/>
              </a:rPr>
              <a:t>STEP </a:t>
            </a:r>
            <a:r>
              <a:rPr lang="en-US" sz="975" b="1">
                <a:solidFill>
                  <a:srgbClr val="F5A623"/>
                </a:solidFill>
                <a:latin typeface="微软雅黑"/>
                <a:ea typeface="微软雅黑"/>
              </a:rPr>
              <a:t>04</a:t>
            </a:r>
            <a:endParaRPr lang="en-US" sz="97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9201150" y="2438400"/>
            <a:ext cx="2190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3A5C"/>
                </a:solidFill>
                <a:latin typeface="微软雅黑"/>
                <a:ea typeface="微软雅黑"/>
              </a:rPr>
              <a:t>排节奏</a:t>
            </a:r>
            <a:endParaRPr lang="zh-CN" sz="16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9201150" y="2790825"/>
            <a:ext cx="21907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开学前全量沟通摸排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开学第一时间下发实物本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+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领课话术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领课次日反馈数据。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346" name="圆角矩形 345"/>
          <p:cNvSpPr/>
          <p:nvPr/>
        </p:nvSpPr>
        <p:spPr>
          <a:xfrm>
            <a:off x="571500" y="5143500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1B3A5C"/>
          </a:solidFill>
        </p:spPr>
        <p:txBody>
          <a:bodyPr/>
          <a:p/>
        </p:txBody>
      </p:sp>
      <p:pic>
        <p:nvPicPr>
          <p:cNvPr id="347" name="图片 34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100" y="5438775"/>
            <a:ext cx="266700" cy="266700"/>
          </a:xfrm>
          <a:prstGeom prst="rect">
            <a:avLst/>
          </a:prstGeom>
        </p:spPr>
      </p:pic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1257300" y="5429250"/>
            <a:ext cx="8229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计划的意义：暑期就完成口算本资源登记与新教材课件登记——等开学再准备，就慢人一步；计划做得细，开学才能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即战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  <a:endParaRPr lang="zh-CN" sz="1275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grpSp>
        <p:nvGrpSpPr>
          <p:cNvPr id="1" name="组合 0"/>
          <p:cNvGrpSpPr/>
          <p:nvPr/>
        </p:nvGrpSpPr>
        <p:grpSpPr>
          <a:xfrm>
            <a:off x="10251440" y="5343525"/>
            <a:ext cx="1714500" cy="381000"/>
            <a:chOff x="15240" y="8475"/>
            <a:chExt cx="2700" cy="600"/>
          </a:xfrm>
        </p:grpSpPr>
        <p:sp>
          <p:nvSpPr>
            <p:cNvPr id="349" name="圆角矩形 348"/>
            <p:cNvSpPr/>
            <p:nvPr/>
          </p:nvSpPr>
          <p:spPr>
            <a:xfrm>
              <a:off x="15240" y="8475"/>
              <a:ext cx="2700" cy="600"/>
            </a:xfrm>
            <a:prstGeom prst="roundRect">
              <a:avLst>
                <a:gd name="adj" fmla="val 20000"/>
              </a:avLst>
            </a:prstGeom>
            <a:solidFill>
              <a:srgbClr val="E8602C"/>
            </a:solidFill>
          </p:spPr>
          <p:txBody>
            <a:bodyPr/>
            <a:p/>
          </p:txBody>
        </p:sp>
        <p:sp>
          <p:nvSpPr>
            <p:cNvPr id="350" name="文本框 349" descr="{&quot;isTemplate&quot;:true,&quot;type&quot;:&quot;text&quot;}"/>
            <p:cNvSpPr txBox="1"/>
            <p:nvPr/>
          </p:nvSpPr>
          <p:spPr>
            <a:xfrm>
              <a:off x="15510" y="8625"/>
              <a:ext cx="2160" cy="300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1200" b="1">
                  <a:solidFill>
                    <a:srgbClr val="FFFFFF"/>
                  </a:solidFill>
                  <a:latin typeface="微软雅黑"/>
                  <a:ea typeface="微软雅黑"/>
                </a:rPr>
                <a:t>每天邀约</a:t>
              </a:r>
              <a:r>
                <a:rPr lang="en-US" sz="1200" b="1">
                  <a:solidFill>
                    <a:srgbClr val="FFFFFF"/>
                  </a:solidFill>
                  <a:latin typeface="微软雅黑"/>
                  <a:ea typeface="微软雅黑"/>
                </a:rPr>
                <a:t> ≥ 5 </a:t>
              </a:r>
              <a:r>
                <a:rPr lang="zh-CN" sz="1200" b="1">
                  <a:solidFill>
                    <a:srgbClr val="FFFFFF"/>
                  </a:solidFill>
                  <a:latin typeface="微软雅黑"/>
                  <a:ea typeface="微软雅黑"/>
                </a:rPr>
                <a:t>所学校</a:t>
              </a:r>
              <a:endParaRPr lang="zh-CN" sz="1200" b="1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pic>
        <p:nvPicPr>
          <p:cNvPr id="351" name="图片 35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04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4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1 · 作战地图 / 全量沟通&lt;/Text&gt;&#10;      &lt;Text style={{ fontSize: 36, color: '#1B3A5C', fontWeight: 'bold' }}&gt;电话 + 微信双通道 · 全量摸排三类角色&lt;/Text&gt;&#10;    &lt;/Box&gt;&#10;  &lt;/Box&gt;&#10;  {/* B区 内容区 */}&#10;  &lt;Box style={{ height: 510, flexDirection: 'column', gap: 20, paddingTop: 20 }}&gt;&#10;    {/* 三类角色卡片 */}&#10;    &lt;Box style={{ flex: 5, flexDirection: 'row', gap: 20 }}&gt;&#10;      &lt;Box style={{ flex: 1, background: '#FFFFFF', borderRadius: 12, padding: 24, flexDirection: 'column', boxShadow: '0 4px 20px rgba(0,0,0,0.06)' }}&gt;&#10;        &lt;Box style={{ flexDirection: 'row', alignItems: 'center', gap: 12, marginBottom: 14 }}&gt;&#10;          &lt;Box style={{ width: 48, height: 48, background: '#FDF0E8', borderRadius: 12, justifyContent: 'center', alignItems: 'center' }}&gt;&#10;            &lt;FAIcon name=&quot;user-tie&quot; style={{ fill: '#E8602C', width: 24, height: 24 }} /&gt;&#10;          &lt;/Box&gt;&#10;          &lt;Box style={{ flexDirection: 'column' }}&gt;&#10;            &lt;Text style={{ fontSize: 18, color: '#1B3A5C', fontWeight: 'bold' }}&gt;教研联系人&lt;/Text&gt;&#10;            &lt;Text style={{ fontSize: 13, color: '#E8602C', fontWeight: 'bold' }}&gt;微信 · 区域群转发&lt;/Text&gt;&#10;          &lt;/Box&gt;&#10;        &lt;/Box&gt;&#10;        &lt;Text style={{ fontSize: 15, color: '#5A5A5A', lineHeight: 1.7 }}&gt;新学期年级调换需要新材料 → 暑假支持了新教材培训 → 整理好1-6年级课件、教案与公益纸质资源 → 问卷星分享到区域老师群，有需要的学校填写后及时服务。&lt;/Text&gt;&#10;      &lt;/Box&gt;&#10;      &lt;Box style={{ flex: 1, background: '#FFFFFF', borderRadius: 12, padding: 24, flexDirection: 'column', boxShadow: '0 4px 20px rgba(0,0,0,0.06)' }}&gt;&#10;        &lt;Box style={{ flexDirection: 'row', alignItems: 'center', gap: 12, marginBottom: 14 }}&gt;&#10;          &lt;Box style={{ width: 48, height: 48, background: '#EBF0F5', borderRadius: 12, justifyContent: 'center', alignItems: 'center' }}&gt;&#10;            &lt;FAIcon name=&quot;user-check&quot; style={{ fill: '#1B3A5C', width: 24, height: 24 }} /&gt;&#10;          &lt;/Box&gt;&#10;          &lt;Box style={{ flexDirection: 'column' }}&gt;&#10;            &lt;Text style={{ fontSize: 18, color: '#1B3A5C', fontWeight: 'bold' }}&gt;校KP · 老客户&lt;/Text&gt;&#10;            &lt;Text style={{ fontSize: 13, color: '#1B3A5C', fontWeight: 'bold' }}&gt;电话 · 直接高效&lt;/Text&gt;&#10;          &lt;/Box&gt;&#10;        &lt;/Box&gt;&#10;        &lt;Text style={{ fontSize: 15, color: '#5A5A5A', lineHeight: 1.7 }}&gt;已领过口算本的学校：新学期1-6年级新教材资源已全部整理，配套计算本上新，新一年级还增加了常见字内容，纯绿色免费——资源第一时间分享，家长群建好后即转发领课话术。&lt;/Text&gt;&#10;      &lt;/Box&gt;&#10;      &lt;Box style={{ flex: 1, background: '#FFFFFF', borderRadius: 12, padding: 24, flexDirection: 'column', boxShadow: '0 4px 20px rgba(0,0,0,0.06)' }}&gt;&#10;        &lt;Box style={{ flexDirection: 'row', alignItems: 'center', gap: 12, marginBottom: 14 }}&gt;&#10;          &lt;Box style={{ width: 48, height: 48, background: '#E8F5EE', borderRadius: 12, justifyContent: 'center', alignItems: 'center' }}&gt;&#10;            &lt;FAIcon name=&quot;user-plus&quot; style={{ fill: '#2BB673', width: 24, height: 24 }} /&gt;&#10;          &lt;/Box&gt;&#10;          &lt;Box style={{ flexDirection: 'column' }}&gt;&#10;            &lt;Text style={{ fontSize: 18, color: '#1B3A5C', fontWeight: 'bold' }}&gt;校KP · 新客户&lt;/Text&gt;&#10;            &lt;Text style={{ fontSize: 13, color: '#2BB673', fontWeight: 'bold' }}&gt;电话+微信 · 破冰建联&lt;/Text&gt;&#10;          &lt;/Box&gt;&#10;        &lt;/Box&gt;&#10;        &lt;Text style={{ fontSize: 15, color: '#5A5A5A', lineHeight: 1.7 }}&gt;未参与过的学校：发送领课话术 → 通知家长公益资源 → 家长点击链接登记 → 校内统一发放实物本 → 发放后触达确认，形成完整闭环。&lt;/Text&gt;&#10;      &lt;/Box&gt;&#10;    &lt;/Box&gt;&#10;    {/* 底部：全量原则 */}&#10;    &lt;Box style={{ flex: 2, background: '#1B3A5C', borderRadius: 12, padding: 24, flexDirection: 'row', alignItems: 'center', gap: 24 }}&gt;&#10;      &lt;Box style={{ flexDirection: 'column', justifyContent: 'center', flexShrink: 0 }}&gt;&#10;        &lt;Text style={{ fontSize: 14, color: '#F5A623', fontWeight: 'bold', letterSpacing: 2, marginBottom: 4 }}&gt;全 量 原 则&lt;/Text&gt;&#10;        &lt;Text style={{ fontSize: 26, color: '#FFFFFF', fontWeight: 'bold' }}&gt;一校不漏&lt;/Text&gt;&#10;      &lt;/Box&gt;&#10;      &lt;Box style={{ width: 2, height: 64, background: '#E8602C' }} /&gt;&#10;      &lt;Box style={{ flex: 1, flexDirection: 'row', gap: 20 }}&gt;&#10;        {[&#10;          { icon: 'phone-volume', t: '电话优先触达校KP' },&#10;          { icon: 'link', t: '微信承接资源分享' },&#10;          { icon: 'clipboard-list', t: '登记需求形成台账' },&#10;        ].map((item, idx) =&gt; (&#10;          &lt;Box key={idx} style={{ flex: 1, flexDirection: 'row', alignItems: 'center', gap: 10 }}&gt;&#10;            &lt;FAIcon name={item.icon} style={{ fill: '#F5A623', width: 18, height: 18, flexShrink: 0 }} /&gt;&#10;            &lt;Text style={{ fontSize: 15, color: '#FFFFFF', lineHeight: 1.4 }}&gt;{item.t}&lt;/Text&gt;&#10;          &lt;/Box&gt;&#10;        ))}&#10;      &lt;/Box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0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矩形 3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356" name="矩形 355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01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作战地图</a:t>
            </a: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 /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全量沟通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电话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+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微信双通道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全量摸排三类角色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59" name="圆角矩形 358"/>
          <p:cNvSpPr/>
          <p:nvPr/>
        </p:nvSpPr>
        <p:spPr>
          <a:xfrm>
            <a:off x="571500" y="1333500"/>
            <a:ext cx="3552825" cy="306705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60" name="圆角矩形 359"/>
          <p:cNvSpPr/>
          <p:nvPr/>
        </p:nvSpPr>
        <p:spPr>
          <a:xfrm>
            <a:off x="800100" y="1562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DF0E8"/>
          </a:solidFill>
        </p:spPr>
        <p:txBody>
          <a:bodyPr/>
          <a:p/>
        </p:txBody>
      </p:sp>
      <p:pic>
        <p:nvPicPr>
          <p:cNvPr id="361" name="图片 36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676400"/>
            <a:ext cx="228600" cy="228600"/>
          </a:xfrm>
          <a:prstGeom prst="rect">
            <a:avLst/>
          </a:prstGeom>
        </p:spPr>
      </p:pic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1371600" y="1609725"/>
            <a:ext cx="981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教研联系人</a:t>
            </a:r>
            <a:endParaRPr lang="zh-CN" sz="13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1371600" y="1819275"/>
            <a:ext cx="981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微信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 · 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区域群转发</a:t>
            </a:r>
            <a:endParaRPr lang="zh-CN" sz="97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800100" y="2152650"/>
            <a:ext cx="3095625" cy="209740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新学期年级调换需要新材料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暑假支持了新教材培训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整理好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1-6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年级课件、教案与公益纸质资源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问卷星分享到区域老师群，有需要的学校填写后及时服务。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  <a:p>
            <a:pPr>
              <a:lnSpc>
                <a:spcPct val="170000"/>
              </a:lnSpc>
            </a:pPr>
            <a:r>
              <a:rPr lang="zh-CN" altLang="en-US" sz="1125">
                <a:solidFill>
                  <a:srgbClr val="5A5A5A"/>
                </a:solidFill>
                <a:latin typeface="微软雅黑"/>
                <a:ea typeface="微软雅黑"/>
              </a:rPr>
              <a:t>口算公益活动预约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  <a:sym typeface="+mn-ea"/>
              </a:rPr>
              <a:t>→ 利用活动打出口算本爆发点</a:t>
            </a:r>
            <a:endParaRPr lang="zh-CN" altLang="en-US" sz="1125">
              <a:solidFill>
                <a:srgbClr val="5A5A5A"/>
              </a:solidFill>
              <a:latin typeface="微软雅黑"/>
              <a:ea typeface="微软雅黑"/>
            </a:endParaRPr>
          </a:p>
          <a:p>
            <a:pPr>
              <a:lnSpc>
                <a:spcPct val="170000"/>
              </a:lnSpc>
            </a:pPr>
            <a:r>
              <a:rPr lang="zh-CN" altLang="en-US" sz="1125">
                <a:solidFill>
                  <a:srgbClr val="5A5A5A"/>
                </a:solidFill>
                <a:latin typeface="微软雅黑"/>
                <a:ea typeface="微软雅黑"/>
              </a:rPr>
              <a:t>数学节倡议书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  <a:sym typeface="+mn-ea"/>
              </a:rPr>
              <a:t>→为小盒做背书，为服务做支撑。</a:t>
            </a:r>
            <a:endParaRPr lang="en-US" alt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4314825" y="1333500"/>
            <a:ext cx="3562350" cy="306705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4543425" y="1562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25" y="1676400"/>
            <a:ext cx="228600" cy="228600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5114925" y="1609725"/>
            <a:ext cx="1085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校</a:t>
            </a:r>
            <a:r>
              <a:rPr lang="en-US" sz="1350" b="1">
                <a:solidFill>
                  <a:srgbClr val="1B3A5C"/>
                </a:solidFill>
                <a:latin typeface="微软雅黑"/>
                <a:ea typeface="微软雅黑"/>
              </a:rPr>
              <a:t>KP · </a:t>
            </a: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老客户</a:t>
            </a:r>
            <a:endParaRPr lang="zh-CN" sz="13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5114925" y="1819275"/>
            <a:ext cx="1085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B3A5C"/>
                </a:solidFill>
                <a:latin typeface="微软雅黑"/>
                <a:ea typeface="微软雅黑"/>
              </a:rPr>
              <a:t>电话</a:t>
            </a:r>
            <a:r>
              <a:rPr lang="en-US" sz="975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975" b="1">
                <a:solidFill>
                  <a:srgbClr val="1B3A5C"/>
                </a:solidFill>
                <a:latin typeface="微软雅黑"/>
                <a:ea typeface="微软雅黑"/>
              </a:rPr>
              <a:t>直接高效</a:t>
            </a:r>
            <a:endParaRPr lang="zh-CN" sz="9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4543425" y="2152650"/>
            <a:ext cx="310515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已领过口算本的学校：新学期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1-6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年级新教材资源已全部整理，配套计算本上新，新一年级还增加了常见字内容，纯绿色免费——资源第一时间分享，家长群建好后即转发领课话术。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8067675" y="1333500"/>
            <a:ext cx="3552825" cy="306705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2" name="圆角矩形 371"/>
          <p:cNvSpPr/>
          <p:nvPr/>
        </p:nvSpPr>
        <p:spPr>
          <a:xfrm>
            <a:off x="8296275" y="1562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F5EE"/>
          </a:solidFill>
        </p:spPr>
        <p:txBody>
          <a:bodyPr/>
          <a:p/>
        </p:txBody>
      </p:sp>
      <p:pic>
        <p:nvPicPr>
          <p:cNvPr id="373" name="图片 37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0575" y="1676400"/>
            <a:ext cx="228600" cy="228600"/>
          </a:xfrm>
          <a:prstGeom prst="rect">
            <a:avLst/>
          </a:prstGeom>
        </p:spPr>
      </p:pic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8867775" y="1609725"/>
            <a:ext cx="118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校</a:t>
            </a:r>
            <a:r>
              <a:rPr lang="en-US" sz="1350" b="1">
                <a:solidFill>
                  <a:srgbClr val="1B3A5C"/>
                </a:solidFill>
                <a:latin typeface="微软雅黑"/>
                <a:ea typeface="微软雅黑"/>
              </a:rPr>
              <a:t>KP · </a:t>
            </a: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新客户</a:t>
            </a:r>
            <a:endParaRPr lang="zh-CN" sz="13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8867775" y="1819275"/>
            <a:ext cx="118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BB673"/>
                </a:solidFill>
                <a:latin typeface="微软雅黑"/>
                <a:ea typeface="微软雅黑"/>
              </a:rPr>
              <a:t>电话</a:t>
            </a:r>
            <a:r>
              <a:rPr lang="en-US" sz="975" b="1">
                <a:solidFill>
                  <a:srgbClr val="2BB673"/>
                </a:solidFill>
                <a:latin typeface="微软雅黑"/>
                <a:ea typeface="微软雅黑"/>
              </a:rPr>
              <a:t>+</a:t>
            </a:r>
            <a:r>
              <a:rPr lang="zh-CN" sz="975" b="1">
                <a:solidFill>
                  <a:srgbClr val="2BB673"/>
                </a:solidFill>
                <a:latin typeface="微软雅黑"/>
                <a:ea typeface="微软雅黑"/>
              </a:rPr>
              <a:t>微信</a:t>
            </a:r>
            <a:r>
              <a:rPr lang="en-US" sz="975" b="1">
                <a:solidFill>
                  <a:srgbClr val="2BB673"/>
                </a:solidFill>
                <a:latin typeface="微软雅黑"/>
                <a:ea typeface="微软雅黑"/>
              </a:rPr>
              <a:t> · </a:t>
            </a:r>
            <a:r>
              <a:rPr lang="zh-CN" sz="975" b="1">
                <a:solidFill>
                  <a:srgbClr val="2BB673"/>
                </a:solidFill>
                <a:latin typeface="微软雅黑"/>
                <a:ea typeface="微软雅黑"/>
              </a:rPr>
              <a:t>破冰建联</a:t>
            </a:r>
            <a:endParaRPr lang="zh-CN" sz="975" b="1">
              <a:solidFill>
                <a:srgbClr val="2BB673"/>
              </a:solidFill>
              <a:latin typeface="微软雅黑"/>
              <a:ea typeface="微软雅黑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8296275" y="2152650"/>
            <a:ext cx="3095625" cy="185991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未参与过的学校：</a:t>
            </a:r>
            <a:r>
              <a:rPr lang="en-US" altLang="zh-CN" sz="1125">
                <a:solidFill>
                  <a:srgbClr val="5A5A5A"/>
                </a:solidFill>
                <a:latin typeface="微软雅黑"/>
                <a:ea typeface="微软雅黑"/>
              </a:rPr>
              <a:t>新教材资源为钩子，引导进行有效的沟通，提及学校在新一二年级是否做功，顺势提周边下发口算本学校，引出下周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发送领课话术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通知家长公益资源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→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校内统一发放实物本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发放后触达确认，形成完整闭环。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377" name="圆角矩形 376"/>
          <p:cNvSpPr/>
          <p:nvPr/>
        </p:nvSpPr>
        <p:spPr>
          <a:xfrm>
            <a:off x="571500" y="4591050"/>
            <a:ext cx="11049000" cy="1409700"/>
          </a:xfrm>
          <a:prstGeom prst="roundRect">
            <a:avLst>
              <a:gd name="adj" fmla="val 8108"/>
            </a:avLst>
          </a:prstGeom>
          <a:solidFill>
            <a:srgbClr val="1B3A5C"/>
          </a:solidFill>
        </p:spPr>
        <p:txBody>
          <a:bodyPr/>
          <a:p/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800100" y="5048250"/>
            <a:ext cx="99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F5A623"/>
                </a:solidFill>
                <a:latin typeface="微软雅黑"/>
                <a:ea typeface="微软雅黑"/>
              </a:rPr>
              <a:t>全</a:t>
            </a:r>
            <a:r>
              <a:rPr lang="en-US" sz="1050" b="1" spc="150">
                <a:solidFill>
                  <a:srgbClr val="F5A623"/>
                </a:solidFill>
                <a:latin typeface="微软雅黑"/>
                <a:ea typeface="微软雅黑"/>
              </a:rPr>
              <a:t> </a:t>
            </a:r>
            <a:r>
              <a:rPr lang="zh-CN" sz="1050" b="1" spc="150">
                <a:solidFill>
                  <a:srgbClr val="F5A623"/>
                </a:solidFill>
                <a:latin typeface="微软雅黑"/>
                <a:ea typeface="微软雅黑"/>
              </a:rPr>
              <a:t>量</a:t>
            </a:r>
            <a:r>
              <a:rPr lang="en-US" sz="1050" b="1" spc="150">
                <a:solidFill>
                  <a:srgbClr val="F5A623"/>
                </a:solidFill>
                <a:latin typeface="微软雅黑"/>
                <a:ea typeface="微软雅黑"/>
              </a:rPr>
              <a:t> </a:t>
            </a:r>
            <a:r>
              <a:rPr lang="zh-CN" sz="1050" b="1" spc="150">
                <a:solidFill>
                  <a:srgbClr val="F5A623"/>
                </a:solidFill>
                <a:latin typeface="微软雅黑"/>
                <a:ea typeface="微软雅黑"/>
              </a:rPr>
              <a:t>原</a:t>
            </a:r>
            <a:r>
              <a:rPr lang="en-US" sz="1050" b="1" spc="150">
                <a:solidFill>
                  <a:srgbClr val="F5A623"/>
                </a:solidFill>
                <a:latin typeface="微软雅黑"/>
                <a:ea typeface="微软雅黑"/>
              </a:rPr>
              <a:t> </a:t>
            </a:r>
            <a:r>
              <a:rPr lang="zh-CN" sz="1050" b="1" spc="150">
                <a:solidFill>
                  <a:srgbClr val="F5A623"/>
                </a:solidFill>
                <a:latin typeface="微软雅黑"/>
                <a:ea typeface="微软雅黑"/>
              </a:rPr>
              <a:t>则</a:t>
            </a:r>
            <a:endParaRPr lang="zh-CN" sz="1050" b="1" spc="150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800100" y="5248275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微软雅黑"/>
                <a:ea typeface="微软雅黑"/>
              </a:rPr>
              <a:t>一校不漏</a:t>
            </a:r>
            <a:endParaRPr lang="zh-CN" sz="195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80" name="矩形 379"/>
          <p:cNvSpPr/>
          <p:nvPr/>
        </p:nvSpPr>
        <p:spPr>
          <a:xfrm>
            <a:off x="2019300" y="4991100"/>
            <a:ext cx="19050" cy="6096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pic>
        <p:nvPicPr>
          <p:cNvPr id="381" name="图片 38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66950" y="5210175"/>
            <a:ext cx="171450" cy="171450"/>
          </a:xfrm>
          <a:prstGeom prst="rect">
            <a:avLst/>
          </a:prstGeom>
        </p:spPr>
      </p:pic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2533650" y="5172075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电话优先触达校</a:t>
            </a:r>
            <a:r>
              <a:rPr lang="en-US" sz="1125">
                <a:solidFill>
                  <a:srgbClr val="FFFFFF"/>
                </a:solidFill>
                <a:latin typeface="微软雅黑"/>
                <a:ea typeface="微软雅黑"/>
              </a:rPr>
              <a:t>KP</a:t>
            </a:r>
            <a:endParaRPr lang="en-US" sz="1125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383" name="图片 38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72100" y="5210175"/>
            <a:ext cx="171450" cy="171450"/>
          </a:xfrm>
          <a:prstGeom prst="rect">
            <a:avLst/>
          </a:prstGeom>
        </p:spPr>
      </p:pic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5638800" y="5172075"/>
            <a:ext cx="1143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微信承接资源分享</a:t>
            </a:r>
            <a:endParaRPr lang="zh-CN" sz="1125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385" name="图片 38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7250" y="5210175"/>
            <a:ext cx="171450" cy="171450"/>
          </a:xfrm>
          <a:prstGeom prst="rect">
            <a:avLst/>
          </a:prstGeom>
        </p:spPr>
      </p:pic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8743950" y="5172075"/>
            <a:ext cx="1143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登记需求形成台账</a:t>
            </a:r>
            <a:endParaRPr lang="zh-CN" sz="1125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387" name="图片 386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05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1 · 作战地图 / 灵活应答&lt;/Text&gt;&#10;      &lt;Text style={{ fontSize: 36, color: '#1B3A5C', fontWeight: 'bold' }}&gt;对方说…… 我们这样答&lt;/Text&gt;&#10;    &lt;/Box&gt;&#10;  &lt;/Box&gt;&#10;  {/* B区 内容区：2x2 Q&amp;A 卡片 */}&#10;  &lt;Box style={{ height: 510, flexDirection: 'column', gap: 18, paddingTop: 20 }}&gt;&#10;    &lt;Box style={{ flex: 1, flexDirection: 'row', gap: 18 }}&gt;&#10;      &lt;Box style={{ flex: 1, background: '#FFFFFF', borderRadius: 12, padding: 22, flexDirection: 'column', boxShadow: '0 4px 20px rgba(0,0,0,0.06)' }}&gt;&#10;        &lt;Box style={{ flexDirection: 'row', alignItems: 'center', gap: 10, marginBottom: 10 }}&gt;&#10;          &lt;FAIcon name=&quot;quote-left&quot; style={{ fill: '#E8602C', width: 18, height: 18 }} /&gt;&#10;          &lt;Text style={{ fontSize: 16, color: '#E8602C', fontWeight: 'bold' }}&gt;老客户：&quot;去年已经发过了&quot;&lt;/Text&gt;&#10;        &lt;/Box&gt;&#10;        &lt;Box style={{ flexDirection: 'row', alignItems: 'flex-start', gap: 10 }}&gt;&#10;          &lt;FAIcon name=&quot;arrow-right&quot; style={{ fill: '#1B3A5C', width: 16, height: 16, marginTop: 4 }} /&gt;&#10;          &lt;Text style={{ fontSize: 15, color: '#2A2A2A', lineHeight: 1.6 }}&gt;新学期年级调换、需要新材料；配套计算本全新升级，新一年级还增加了常见字内容，资源已全部更新，纯绿色免费，直接分享给您。&lt;/Text&gt;&#10;        &lt;/Box&gt;&#10;      &lt;/Box&gt;&#10;      &lt;Box style={{ flex: 1, background: '#FFFFFF', borderRadius: 12, padding: 22, flexDirection: 'column', boxShadow: '0 4px 20px rgba(0,0,0,0.06)' }}&gt;&#10;        &lt;Box style={{ flexDirection: 'row', alignItems: 'center', gap: 10, marginBottom: 10 }}&gt;&#10;          &lt;FAIcon name=&quot;quote-left&quot; style={{ fill: '#E8602C', width: 18, height: 18 }} /&gt;&#10;          &lt;Text style={{ fontSize: 16, color: '#E8602C', fontWeight: 'bold' }}&gt;新客户：&quot;我们再看看 / 不太方便&quot;&lt;/Text&gt;&#10;        &lt;/Box&gt;&#10;        &lt;Box style={{ flexDirection: 'row', alignItems: 'flex-start', gap: 10 }}&gt;&#10;          &lt;FAIcon name=&quot;arrow-right&quot; style={{ fill: '#1B3A5C', width: 16, height: 16, marginTop: 4 }} /&gt;&#10;          &lt;Text style={{ fontSize: 15, color: '#2A2A2A', lineHeight: 1.6 }}&gt;纯绿色免费公益资源，校内统一发放，家长自愿登记领取，不给学校和老师增加任何负担；先把资源发您看看，合适再登记。&lt;/Text&gt;&#10;        &lt;/Box&gt;&#10;      &lt;/Box&gt;&#10;    &lt;/Box&gt;&#10;    &lt;Box style={{ flex: 1, flexDirection: 'row', gap: 18 }}&gt;&#10;      &lt;Box style={{ flex: 1, background: '#FFFFFF', borderRadius: 12, padding: 22, flexDirection: 'column', boxShadow: '0 4px 20px rgba(0,0,0,0.06)' }}&gt;&#10;        &lt;Box style={{ flexDirection: 'row', alignItems: 'center', gap: 10, marginBottom: 10 }}&gt;&#10;          &lt;FAIcon name=&quot;quote-left&quot; style={{ fill: '#E8602C', width: 18, height: 18 }} /&gt;&#10;          &lt;Text style={{ fontSize: 16, color: '#E8602C', fontWeight: 'bold' }}&gt;学校：&quot;现在不方便进校&quot;&lt;/Text&gt;&#10;        &lt;/Box&gt;&#10;        &lt;Box style={{ flexDirection: 'row', alignItems: 'flex-start', gap: 10 }}&gt;&#10;          &lt;FAIcon name=&quot;arrow-right&quot; style={{ fill: '#1B3A5C', width: 16, height: 16, marginTop: 4 }} /&gt;&#10;          &lt;Text style={{ fontSize: 15, color: '#2A2A2A', lineHeight: 1.6 }}&gt;不强求进校——学校不是拒绝我们，是拒绝所有进校的人。线上传递服务解决学校资源缺乏，等窗口期再约；换人、换话术持续邀约。&lt;/Text&gt;&#10;        &lt;/Box&gt;&#10;      &lt;/Box&gt;&#10;      &lt;Box style={{ flex: 1, background: '#FFFFFF', borderRadius: 12, padding: 22, flexDirection: 'column', boxShadow: '0 4px 20px rgba(0,0,0,0.06)' }}&gt;&#10;        &lt;Box style={{ flexDirection: 'row', alignItems: 'center', gap: 10, marginBottom: 10 }}&gt;&#10;          &lt;FAIcon name=&quot;quote-left&quot; style={{ fill: '#E8602C', width: 18, height: 18 }} /&gt;&#10;          &lt;Text style={{ fontSize: 16, color: '#E8602C', fontWeight: 'bold' }}&gt;教研：&quot;你们能提供什么支持？&quot;&lt;/Text&gt;&#10;        &lt;/Box&gt;&#10;        &lt;Box style={{ flexDirection: 'row', alignItems: 'flex-start', gap: 10 }}&gt;&#10;          &lt;FAIcon name=&quot;arrow-right&quot; style={{ fill: '#1B3A5C', width: 16, height: 16, marginTop: 4 }} /&gt;&#10;          &lt;Text style={{ fontSize: 15, color: '#2A2A2A', lineHeight: 1.6 }}&gt;上学期短、这学期长，很多学校学科节活动放到本学期，我们可免费提供活动支持；另有1-6年级新教材课件教案与公益纸质资源，问卷星分享到区域群即可。&lt;/Text&gt;&#10;        &lt;/Box&gt;&#10;      &lt;/Box&gt;&#10;    &lt;/Box&gt;&#10;    {/* 底部心态条 */}&#10;    &lt;Box style={{ height: 76, background: '#FDF0E8', borderRadius: 12, padding: 20, flexDirection: 'row', alignItems: 'center', gap: 16, borderLeft: '5px solid #E8602C' }}&gt;&#10;      &lt;FAIcon name=&quot;lightbulb&quot; style={{ fill: '#E8602C', width: 24, height: 24 }} /&gt;&#10;      &lt;Text style={{ fontSize: 16, color: '#2A2A2A', lineHeight: 1.5, flex: 1 }}&gt;应答心法：不纠结一时答复——政策是一阵剑雨，目标是所有人；唯有行动起来才能克服焦虑，被拒绝了就换人、换话术、再邀约。&lt;/Text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0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矩形 3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392" name="矩形 391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01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作战地图</a:t>
            </a: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 /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灵活应答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对方说……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我们这样答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95" name="圆角矩形 394"/>
          <p:cNvSpPr/>
          <p:nvPr/>
        </p:nvSpPr>
        <p:spPr>
          <a:xfrm>
            <a:off x="571500" y="1333500"/>
            <a:ext cx="5438775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396" name="图片 3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1552575"/>
            <a:ext cx="171450" cy="171450"/>
          </a:xfrm>
          <a:prstGeom prst="rect">
            <a:avLst/>
          </a:prstGeom>
        </p:spPr>
      </p:pic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1047750" y="1543050"/>
            <a:ext cx="1828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老客户：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去年已经发过了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endParaRPr lang="en-US" sz="12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pic>
        <p:nvPicPr>
          <p:cNvPr id="398" name="图片 39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" y="1866900"/>
            <a:ext cx="152400" cy="152400"/>
          </a:xfrm>
          <a:prstGeom prst="rect">
            <a:avLst/>
          </a:prstGeom>
        </p:spPr>
      </p:pic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1019175" y="1828800"/>
            <a:ext cx="4781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新学期年级调换、需要新材料；配套计算本全新升级，新一年级还增加了常见字内容，资源已全部更新，纯绿色免费，直接分享给您。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00" name="圆角矩形 399"/>
          <p:cNvSpPr/>
          <p:nvPr/>
        </p:nvSpPr>
        <p:spPr>
          <a:xfrm>
            <a:off x="6181725" y="1333500"/>
            <a:ext cx="5438775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401" name="图片 40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1275" y="1552575"/>
            <a:ext cx="171450" cy="171450"/>
          </a:xfrm>
          <a:prstGeom prst="rect">
            <a:avLst/>
          </a:prstGeom>
        </p:spPr>
      </p:pic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6657975" y="1543050"/>
            <a:ext cx="2257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新客户：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我们再看看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 / </a:t>
            </a: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不太方便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endParaRPr lang="en-US" sz="12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pic>
        <p:nvPicPr>
          <p:cNvPr id="403" name="图片 4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1275" y="1866900"/>
            <a:ext cx="152400" cy="152400"/>
          </a:xfrm>
          <a:prstGeom prst="rect">
            <a:avLst/>
          </a:prstGeom>
        </p:spPr>
      </p:pic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6629400" y="1828800"/>
            <a:ext cx="4781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纯绿色免费公益资源，校内统一发放，家长自愿登记领取，不给学校和老师增加任何负担；先把资源发您看看，合适再登记。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571500" y="3305175"/>
            <a:ext cx="5438775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406" name="图片 40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3524250"/>
            <a:ext cx="171450" cy="171450"/>
          </a:xfrm>
          <a:prstGeom prst="rect">
            <a:avLst/>
          </a:prstGeom>
        </p:spPr>
      </p:pic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1047750" y="3514725"/>
            <a:ext cx="1676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学校：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现在不方便进校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endParaRPr lang="en-US" sz="12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pic>
        <p:nvPicPr>
          <p:cNvPr id="408" name="图片 4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50" y="3838575"/>
            <a:ext cx="152400" cy="152400"/>
          </a:xfrm>
          <a:prstGeom prst="rect">
            <a:avLst/>
          </a:prstGeom>
        </p:spPr>
      </p:pic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1019175" y="3800475"/>
            <a:ext cx="4781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不强求进校——学校不是拒绝我们，是拒绝所有进校的人。线上传递服务解决学校资源缺乏，等窗口期再约；换人、换话术持续邀约。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6181725" y="3305175"/>
            <a:ext cx="5438775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411" name="图片 4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1275" y="3524250"/>
            <a:ext cx="171450" cy="171450"/>
          </a:xfrm>
          <a:prstGeom prst="rect">
            <a:avLst/>
          </a:prstGeom>
        </p:spPr>
      </p:pic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6657975" y="3514725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教研：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你们能提供什么支持？</a:t>
            </a:r>
            <a:r>
              <a:rPr lang="en-US" sz="1200" b="1">
                <a:solidFill>
                  <a:srgbClr val="E8602C"/>
                </a:solidFill>
                <a:latin typeface="微软雅黑"/>
                <a:ea typeface="微软雅黑"/>
              </a:rPr>
              <a:t>"</a:t>
            </a:r>
            <a:endParaRPr lang="en-US" sz="12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pic>
        <p:nvPicPr>
          <p:cNvPr id="413" name="图片 4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1275" y="3838575"/>
            <a:ext cx="152400" cy="152400"/>
          </a:xfrm>
          <a:prstGeom prst="rect">
            <a:avLst/>
          </a:prstGeom>
        </p:spPr>
      </p:pic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6629400" y="3800475"/>
            <a:ext cx="4781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上学期短、这学期长，很多学校学科节活动放到本学期，我们可免费提供活动支持；另有</a:t>
            </a:r>
            <a:r>
              <a:rPr lang="en-US" sz="1125">
                <a:solidFill>
                  <a:srgbClr val="2A2A2A"/>
                </a:solidFill>
                <a:latin typeface="微软雅黑"/>
                <a:ea typeface="微软雅黑"/>
              </a:rPr>
              <a:t>1-6</a:t>
            </a: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年级新教材课件教案与公益纸质资源，问卷星分享到区域群即可。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15" name="圆角矩形 414"/>
          <p:cNvSpPr/>
          <p:nvPr/>
        </p:nvSpPr>
        <p:spPr>
          <a:xfrm>
            <a:off x="619125" y="5276850"/>
            <a:ext cx="11049000" cy="723900"/>
          </a:xfrm>
          <a:prstGeom prst="roundRect">
            <a:avLst>
              <a:gd name="adj" fmla="val 15789"/>
            </a:avLst>
          </a:prstGeom>
          <a:solidFill>
            <a:srgbClr val="FDF0E8"/>
          </a:solidFill>
        </p:spPr>
        <p:txBody>
          <a:bodyPr/>
          <a:p/>
        </p:txBody>
      </p:sp>
      <p:sp>
        <p:nvSpPr>
          <p:cNvPr id="416" name="任意多边形 415"/>
          <p:cNvSpPr/>
          <p:nvPr/>
        </p:nvSpPr>
        <p:spPr>
          <a:xfrm>
            <a:off x="619125" y="5276850"/>
            <a:ext cx="11049000" cy="723900"/>
          </a:xfrm>
          <a:custGeom>
            <a:avLst/>
            <a:gdLst/>
            <a:ahLst/>
            <a:cxnLst/>
            <a:pathLst>
              <a:path w="1160" h="7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69"/>
                </a:lnTo>
                <a:cubicBezTo>
                  <a:pt x="5" y="72"/>
                  <a:pt x="7" y="75"/>
                  <a:pt x="10" y="76"/>
                </a:cubicBezTo>
                <a:cubicBezTo>
                  <a:pt x="4" y="75"/>
                  <a:pt x="0" y="70"/>
                  <a:pt x="0" y="6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pic>
        <p:nvPicPr>
          <p:cNvPr id="417" name="图片 4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625" y="5524500"/>
            <a:ext cx="228600" cy="228600"/>
          </a:xfrm>
          <a:prstGeom prst="rect">
            <a:avLst/>
          </a:prstGeom>
        </p:spPr>
      </p:pic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1190625" y="5505450"/>
            <a:ext cx="102393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应答心法：不纠结一时答复——每个人对政策的解读和回应都是</a:t>
            </a: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不同的；唯有行动起来才能克服焦虑，被拒绝了就换人、换话术、再邀约。</a:t>
            </a:r>
            <a:endParaRPr lang="zh-CN" sz="120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pic>
        <p:nvPicPr>
          <p:cNvPr id="419" name="图片 41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06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2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1 · 作战地图 / 达成初步认同&lt;/Text&gt;&#10;      &lt;Text style={{ fontSize: 36, color: '#1B3A5C', fontWeight: 'bold' }}&gt;识别认同信号 · 锁定跟进动作&lt;/Text&gt;&#10;    &lt;/Box&gt;&#10;  &lt;/Box&gt;&#10;  {/* B区 内容区：非对称双栏 */}&#10;  &lt;Box style={{ height: 510, flexDirection: 'row', gap: 24, paddingTop: 20 }}&gt;&#10;    {/* 左栏：认同信号 */}&#10;    &lt;Box style={{ width: '52%', background: '#FFFFFF', borderRadius: 12, padding: 28, flexDirection: 'column', boxShadow: '0 4px 20px rgba(0,0,0,0.06)' }}&gt;&#10;      &lt;Box style={{ flexDirection: 'row', alignItems: 'center', gap: 12, marginBottom: 18 }}&gt;&#10;        &lt;Box style={{ width: 44, height: 44, background: '#FDF0E8', borderRadius: 12, justifyContent: 'center', alignItems: 'center' }}&gt;&#10;          &lt;FAIcon name=&quot;check-circle&quot; style={{ fill: '#E8602C', width: 22, height: 22 }} /&gt;&#10;        &lt;/Box&gt;&#10;        &lt;Box style={{ flexDirection: 'column' }}&gt;&#10;          &lt;Text style={{ fontSize: 20, color: '#1B3A5C', fontWeight: 'bold' }}&gt;4 个认同信号&lt;/Text&gt;&#10;          &lt;Text style={{ fontSize: 13, color: '#8A8A8A' }}&gt;出现任意一条，就值得立刻跟进&lt;/Text&gt;&#10;        &lt;/Box&gt;&#10;      &lt;/Box&gt;&#10;      {[&#10;        { n: '1', t: '同意把问卷星 / 资源分享到区域老师群' },&#10;        { n: '2', t: '同意接收 1-6 年级新教材资源包' },&#10;        { n: '3', t: '同意登记领取口算本 / 拼音本' },&#10;        { n: '4', t: '主动约定实物本的发放时间' },&#10;      ].map((item) =&gt; (&#10;        &lt;Box key={item.n} style={{ flex: 1, background: '#FAF8F5', borderRadius: 10, padding: 16, flexDirection: 'row', alignItems: 'center', gap: 14, marginBottom: 12 }}&gt;&#10;          &lt;Box style={{ width: 34, height: 34, background: '#E8602C', borderRadius: '50%', justifyContent: 'center', alignItems: 'center', flexShrink: 0 }}&gt;&#10;            &lt;Text style={{ fontSize: 16, color: '#FFFFFF', fontWeight: 'bold' }}&gt;{item.n}&lt;/Text&gt;&#10;          &lt;/Box&gt;&#10;          &lt;Text style={{ fontSize: 16, color: '#2A2A2A', lineHeight: 1.5 }}&gt;{item.t}&lt;/Text&gt;&#10;        &lt;/Box&gt;&#10;      ))}&#10;    &lt;/Box&gt;&#10;    {/* 右栏：跟进动作 */}&#10;    &lt;Box style={{ flex: 1, flexDirection: 'column', gap: 14 }}&gt;&#10;      &lt;Box style={{ flexDirection: 'row', alignItems: 'center', gap: 12, paddingLeft: 4 }}&gt;&#10;        &lt;Box style={{ width: 44, height: 44, background: '#EBF0F5', borderRadius: 12, justifyContent: 'center', alignItems: 'center' }}&gt;&#10;          &lt;FAIcon name=&quot;running&quot; style={{ fill: '#1B3A5C', width: 22, height: 22 }} /&gt;&#10;        &lt;/Box&gt;&#10;        &lt;Box style={{ flexDirection: 'column' }}&gt;&#10;          &lt;Text style={{ fontSize: 20, color: '#1B3A5C', fontWeight: 'bold' }}&gt;认同之后立刻做&lt;/Text&gt;&#10;          &lt;Text style={{ fontSize: 13, color: '#8A8A8A' }}&gt;趁热打铁，动作不断档&lt;/Text&gt;&#10;        &lt;/Box&gt;&#10;      &lt;/Box&gt;&#10;      {[&#10;        { icon: 'link', t: '第一时间分享资源', d: '对方点头后马上发，隔夜热度减半' },&#10;        { icon: 'book-open', t: '家长群建好即转发领课话术', d: '开学窗口期就这几天，错过再等一学期' },&#10;        { icon: 'clipboard-list', t: '提前制表 + 订足数量实物本', d: '沟通好发放时间，确保开学第一时间下发' },&#10;        { icon: 'calendar-plus', t: '活动预约同步埋点', d: '学科节、省测顺势预约，持续服务不断线' },&#10;      ].map((item, idx) =&gt; (&#10;        &lt;Box key={idx} style={{ flex: 1, background: '#FFFFFF', borderRadius: 10, padding: 16, flexDirection: 'row', alignItems: 'center', gap: 14, boxShadow: '0 2px 10px rgba(0,0,0,0.04)' }}&gt;&#10;          &lt;Box style={{ width: 44, height: 44, background: '#EBF0F5', borderRadius: 10, justifyContent: 'center', alignItems: 'center', flexShrink: 0 }}&gt;&#10;            &lt;FAIcon name={item.icon} style={{ fill: '#1B3A5C', width: 20, height: 20 }} /&gt;&#10;          &lt;/Box&gt;&#10;          &lt;Box style={{ flex: 1, flexDirection: 'column', gap: 2 }}&gt;&#10;            &lt;Text style={{ fontSize: 16, color: '#1B3A5C', fontWeight: 'bold' }}&gt;{item.t}&lt;/Text&gt;&#10;            &lt;Text style={{ fontSize: 13, color: '#5A5A5A', lineHeight: 1.4 }}&gt;{item.d}&lt;/Text&gt;&#10;          &lt;/Box&gt;&#10;        &lt;/Box&gt;&#10;      ))}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07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矩形 4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424" name="矩形 423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01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作战地图</a:t>
            </a: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 /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达成初步认同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识别认同信号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锁定跟进动作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571500" y="1333500"/>
            <a:ext cx="5743575" cy="466725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8" name="圆角矩形 427"/>
          <p:cNvSpPr/>
          <p:nvPr/>
        </p:nvSpPr>
        <p:spPr>
          <a:xfrm>
            <a:off x="838200" y="16002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F0E8"/>
          </a:solidFill>
        </p:spPr>
        <p:txBody>
          <a:bodyPr/>
          <a:p/>
        </p:txBody>
      </p:sp>
      <p:pic>
        <p:nvPicPr>
          <p:cNvPr id="429" name="图片 42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975" y="1704975"/>
            <a:ext cx="209550" cy="209550"/>
          </a:xfrm>
          <a:prstGeom prst="rect">
            <a:avLst/>
          </a:prstGeom>
        </p:spPr>
      </p:pic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1371600" y="1619250"/>
            <a:ext cx="1733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B3A5C"/>
                </a:solidFill>
                <a:latin typeface="微软雅黑"/>
                <a:ea typeface="微软雅黑"/>
              </a:rPr>
              <a:t>4 </a:t>
            </a:r>
            <a:r>
              <a:rPr lang="zh-CN" sz="1500" b="1">
                <a:solidFill>
                  <a:srgbClr val="1B3A5C"/>
                </a:solidFill>
                <a:latin typeface="微软雅黑"/>
                <a:ea typeface="微软雅黑"/>
              </a:rPr>
              <a:t>个认同信号</a:t>
            </a:r>
            <a:endParaRPr lang="zh-CN" sz="15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1371600" y="1847850"/>
            <a:ext cx="1733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出现任意一条，就值得立刻跟进</a:t>
            </a:r>
            <a:endParaRPr lang="zh-CN" sz="975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838200" y="2190750"/>
            <a:ext cx="5210175" cy="771525"/>
          </a:xfrm>
          <a:prstGeom prst="roundRect">
            <a:avLst>
              <a:gd name="adj" fmla="val 12346"/>
            </a:avLst>
          </a:prstGeom>
          <a:solidFill>
            <a:srgbClr val="FAF8F5"/>
          </a:solidFill>
        </p:spPr>
        <p:txBody>
          <a:bodyPr/>
          <a:p/>
        </p:txBody>
      </p:sp>
      <p:sp>
        <p:nvSpPr>
          <p:cNvPr id="433" name="任意多边形 432"/>
          <p:cNvSpPr/>
          <p:nvPr/>
        </p:nvSpPr>
        <p:spPr>
          <a:xfrm>
            <a:off x="990600" y="2419350"/>
            <a:ext cx="323850" cy="323850"/>
          </a:xfrm>
          <a:custGeom>
            <a:avLst/>
            <a:gdLst/>
            <a:ahLst/>
            <a:cxnLst/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1114425" y="2486025"/>
            <a:ext cx="85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en-US" sz="1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1447800" y="2438400"/>
            <a:ext cx="2571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同意把问卷星</a:t>
            </a:r>
            <a:r>
              <a:rPr lang="en-US" sz="1200">
                <a:solidFill>
                  <a:srgbClr val="2A2A2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资源分享到区域老师群</a:t>
            </a:r>
            <a:endParaRPr lang="zh-CN" sz="120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36" name="圆角矩形 435"/>
          <p:cNvSpPr/>
          <p:nvPr/>
        </p:nvSpPr>
        <p:spPr>
          <a:xfrm>
            <a:off x="838200" y="3076575"/>
            <a:ext cx="5210175" cy="771525"/>
          </a:xfrm>
          <a:prstGeom prst="roundRect">
            <a:avLst>
              <a:gd name="adj" fmla="val 12346"/>
            </a:avLst>
          </a:prstGeom>
          <a:solidFill>
            <a:srgbClr val="FAF8F5"/>
          </a:solidFill>
        </p:spPr>
        <p:txBody>
          <a:bodyPr/>
          <a:p/>
        </p:txBody>
      </p:sp>
      <p:sp>
        <p:nvSpPr>
          <p:cNvPr id="437" name="任意多边形 436"/>
          <p:cNvSpPr/>
          <p:nvPr/>
        </p:nvSpPr>
        <p:spPr>
          <a:xfrm>
            <a:off x="990600" y="3305175"/>
            <a:ext cx="323850" cy="323850"/>
          </a:xfrm>
          <a:custGeom>
            <a:avLst/>
            <a:gdLst/>
            <a:ahLst/>
            <a:cxnLst/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1114425" y="3371850"/>
            <a:ext cx="85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en-US" sz="1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1447800" y="3324225"/>
            <a:ext cx="21431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同意接收</a:t>
            </a:r>
            <a:r>
              <a:rPr lang="en-US" sz="1200">
                <a:solidFill>
                  <a:srgbClr val="2A2A2A"/>
                </a:solidFill>
                <a:latin typeface="微软雅黑"/>
                <a:ea typeface="微软雅黑"/>
              </a:rPr>
              <a:t> 1-6 </a:t>
            </a: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年级新教材资源包</a:t>
            </a:r>
            <a:endParaRPr lang="zh-CN" sz="120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40" name="圆角矩形 439"/>
          <p:cNvSpPr/>
          <p:nvPr/>
        </p:nvSpPr>
        <p:spPr>
          <a:xfrm>
            <a:off x="838200" y="3962400"/>
            <a:ext cx="5210175" cy="771525"/>
          </a:xfrm>
          <a:prstGeom prst="roundRect">
            <a:avLst>
              <a:gd name="adj" fmla="val 12346"/>
            </a:avLst>
          </a:prstGeom>
          <a:solidFill>
            <a:srgbClr val="FAF8F5"/>
          </a:solidFill>
        </p:spPr>
        <p:txBody>
          <a:bodyPr/>
          <a:p/>
        </p:txBody>
      </p:sp>
      <p:sp>
        <p:nvSpPr>
          <p:cNvPr id="441" name="任意多边形 440"/>
          <p:cNvSpPr/>
          <p:nvPr/>
        </p:nvSpPr>
        <p:spPr>
          <a:xfrm>
            <a:off x="990600" y="4191000"/>
            <a:ext cx="323850" cy="323850"/>
          </a:xfrm>
          <a:custGeom>
            <a:avLst/>
            <a:gdLst/>
            <a:ahLst/>
            <a:cxnLst/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1114425" y="4257675"/>
            <a:ext cx="85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en-US" sz="1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1447800" y="4210050"/>
            <a:ext cx="1962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同意登记领取口算本</a:t>
            </a:r>
            <a:r>
              <a:rPr lang="en-US" sz="1200">
                <a:solidFill>
                  <a:srgbClr val="2A2A2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拼音本</a:t>
            </a:r>
            <a:endParaRPr lang="zh-CN" sz="120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44" name="圆角矩形 443"/>
          <p:cNvSpPr/>
          <p:nvPr/>
        </p:nvSpPr>
        <p:spPr>
          <a:xfrm>
            <a:off x="838200" y="4848225"/>
            <a:ext cx="5210175" cy="771525"/>
          </a:xfrm>
          <a:prstGeom prst="roundRect">
            <a:avLst>
              <a:gd name="adj" fmla="val 12346"/>
            </a:avLst>
          </a:prstGeom>
          <a:solidFill>
            <a:srgbClr val="FAF8F5"/>
          </a:solidFill>
        </p:spPr>
        <p:txBody>
          <a:bodyPr/>
          <a:p/>
        </p:txBody>
      </p:sp>
      <p:sp>
        <p:nvSpPr>
          <p:cNvPr id="445" name="任意多边形 444"/>
          <p:cNvSpPr/>
          <p:nvPr/>
        </p:nvSpPr>
        <p:spPr>
          <a:xfrm>
            <a:off x="990600" y="5076825"/>
            <a:ext cx="323850" cy="323850"/>
          </a:xfrm>
          <a:custGeom>
            <a:avLst/>
            <a:gdLst/>
            <a:ahLst/>
            <a:cxnLst/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1114425" y="5143500"/>
            <a:ext cx="85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 lang="en-US" sz="1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447800" y="5095875"/>
            <a:ext cx="1828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主动约定实物本的发放时间</a:t>
            </a:r>
            <a:endParaRPr lang="zh-CN" sz="120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6581775" y="13335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449" name="图片 4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6550" y="1438275"/>
            <a:ext cx="209550" cy="209550"/>
          </a:xfrm>
          <a:prstGeom prst="rect">
            <a:avLst/>
          </a:prstGeom>
        </p:spPr>
      </p:pic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7115175" y="1352550"/>
            <a:ext cx="1333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3A5C"/>
                </a:solidFill>
                <a:latin typeface="微软雅黑"/>
                <a:ea typeface="微软雅黑"/>
              </a:rPr>
              <a:t>认同之后立刻做</a:t>
            </a:r>
            <a:endParaRPr lang="zh-CN" sz="15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7115175" y="1581150"/>
            <a:ext cx="1333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趁热打铁，动作不断档</a:t>
            </a:r>
            <a:endParaRPr lang="zh-CN" sz="975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452" name="圆角矩形 451"/>
          <p:cNvSpPr/>
          <p:nvPr/>
        </p:nvSpPr>
        <p:spPr>
          <a:xfrm>
            <a:off x="6543675" y="1885950"/>
            <a:ext cx="5076825" cy="93345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effectLst>
            <a:outerShdw blurRad="9525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53" name="圆角矩形 452"/>
          <p:cNvSpPr/>
          <p:nvPr/>
        </p:nvSpPr>
        <p:spPr>
          <a:xfrm>
            <a:off x="6696075" y="21431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454" name="图片 45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0375" y="2257425"/>
            <a:ext cx="190500" cy="190500"/>
          </a:xfrm>
          <a:prstGeom prst="rect">
            <a:avLst/>
          </a:prstGeom>
        </p:spPr>
      </p:pic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7248525" y="2143125"/>
            <a:ext cx="4219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3A5C"/>
                </a:solidFill>
                <a:latin typeface="微软雅黑"/>
                <a:ea typeface="微软雅黑"/>
              </a:rPr>
              <a:t>第一时间分享资源</a:t>
            </a:r>
            <a:endParaRPr lang="zh-CN" sz="12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7248525" y="2352675"/>
            <a:ext cx="4219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对方点头后马上发，隔夜热度减半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457" name="圆角矩形 456"/>
          <p:cNvSpPr/>
          <p:nvPr/>
        </p:nvSpPr>
        <p:spPr>
          <a:xfrm>
            <a:off x="6543675" y="2952750"/>
            <a:ext cx="5076825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effectLst>
            <a:outerShdw blurRad="9525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58" name="圆角矩形 457"/>
          <p:cNvSpPr/>
          <p:nvPr/>
        </p:nvSpPr>
        <p:spPr>
          <a:xfrm>
            <a:off x="6696075" y="32099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459" name="图片 45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0375" y="3324225"/>
            <a:ext cx="190500" cy="190500"/>
          </a:xfrm>
          <a:prstGeom prst="rect">
            <a:avLst/>
          </a:prstGeom>
        </p:spPr>
      </p:pic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7248525" y="3209925"/>
            <a:ext cx="4219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3A5C"/>
                </a:solidFill>
                <a:latin typeface="微软雅黑"/>
                <a:ea typeface="微软雅黑"/>
              </a:rPr>
              <a:t>家长群建好即转发领课话术</a:t>
            </a:r>
            <a:endParaRPr lang="zh-CN" sz="12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7248525" y="3419475"/>
            <a:ext cx="4219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开学窗口期就这几天，错过再等一学期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462" name="圆角矩形 461"/>
          <p:cNvSpPr/>
          <p:nvPr/>
        </p:nvSpPr>
        <p:spPr>
          <a:xfrm>
            <a:off x="6543675" y="4010025"/>
            <a:ext cx="5076825" cy="93345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effectLst>
            <a:outerShdw blurRad="9525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63" name="圆角矩形 462"/>
          <p:cNvSpPr/>
          <p:nvPr/>
        </p:nvSpPr>
        <p:spPr>
          <a:xfrm>
            <a:off x="6696075" y="42672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464" name="图片 46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0375" y="4381500"/>
            <a:ext cx="190500" cy="190500"/>
          </a:xfrm>
          <a:prstGeom prst="rect">
            <a:avLst/>
          </a:prstGeom>
        </p:spPr>
      </p:pic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7248525" y="4267200"/>
            <a:ext cx="4219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3A5C"/>
                </a:solidFill>
                <a:latin typeface="微软雅黑"/>
                <a:ea typeface="微软雅黑"/>
              </a:rPr>
              <a:t>提前制表</a:t>
            </a:r>
            <a:r>
              <a:rPr lang="en-US" sz="1200" b="1">
                <a:solidFill>
                  <a:srgbClr val="1B3A5C"/>
                </a:solidFill>
                <a:latin typeface="微软雅黑"/>
                <a:ea typeface="微软雅黑"/>
              </a:rPr>
              <a:t> + </a:t>
            </a:r>
            <a:r>
              <a:rPr lang="zh-CN" sz="1200" b="1">
                <a:solidFill>
                  <a:srgbClr val="1B3A5C"/>
                </a:solidFill>
                <a:latin typeface="微软雅黑"/>
                <a:ea typeface="微软雅黑"/>
              </a:rPr>
              <a:t>订足数量实物本</a:t>
            </a:r>
            <a:endParaRPr lang="zh-CN" sz="12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7248525" y="4476750"/>
            <a:ext cx="4219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沟通好发放时间，确保开学第一时间下发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467" name="圆角矩形 466"/>
          <p:cNvSpPr/>
          <p:nvPr/>
        </p:nvSpPr>
        <p:spPr>
          <a:xfrm>
            <a:off x="6543675" y="5076825"/>
            <a:ext cx="5076825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effectLst>
            <a:outerShdw blurRad="9525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68" name="圆角矩形 467"/>
          <p:cNvSpPr/>
          <p:nvPr/>
        </p:nvSpPr>
        <p:spPr>
          <a:xfrm>
            <a:off x="6696075" y="5334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469" name="图片 468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10375" y="5448300"/>
            <a:ext cx="190500" cy="190500"/>
          </a:xfrm>
          <a:prstGeom prst="rect">
            <a:avLst/>
          </a:prstGeom>
        </p:spPr>
      </p:pic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7248525" y="5334000"/>
            <a:ext cx="4219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3A5C"/>
                </a:solidFill>
                <a:latin typeface="微软雅黑"/>
                <a:ea typeface="微软雅黑"/>
              </a:rPr>
              <a:t>活动预约同步埋点</a:t>
            </a:r>
            <a:endParaRPr lang="zh-CN" sz="12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7248525" y="5543550"/>
            <a:ext cx="4219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学科节、省测顺势预约，持续服务不断线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472" name="图片 47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  <a:p>
            <a:pPr>
              <a:lnSpc>
                <a:spcPct val="100000"/>
              </a:lnSpc>
            </a:pP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07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5" name="" descr="&lt;Slide style={{ width: '1280px', height: '720px', padding: 0, position: 'relative', background: '#E8602C' }}&gt;&#10;  {/* 渐变背景 */}&#10;  &lt;Box style={{ position: 'absolute', top: 0, left: 0, width: '100%', height: '100%', background: 'linear-gradient(135deg, #1B3A5C 0%, #2A5680 50%, #E8602C 100%)' }} /&gt;&#10;  {/* 装饰几何元素 */}&#10;  &lt;Box style={{ position: 'absolute', top: 0, right: 0, width: 500, height: 500, background: 'rgba(255,255,255,0.08)', borderRadius: '50%', transform: 'translate(200px, -200px)' }} /&gt;&#10;  &lt;Box style={{ position: 'absolute', bottom: 0, left: 0, width: 300, height: 300, background: 'rgba(255,255,255,0.06)', borderRadius: '50%', transform: 'translate(-100px, 100px)' }} /&gt;&#10;  {/* 顶部小标签 */}&#10;  &lt;Box style={{ position: 'absolute', top: 60, left: 80, flexDirection: 'row', alignItems: 'center', gap: 12 }}&gt;&#10;    &lt;Box style={{ width: 40, height: 2, background: '#FFFFFF' }} /&gt;&#10;    &lt;Text style={{ fontSize: 16, color: '#FFFFFF', fontWeight: 'bold', letterSpacing: 3, opacity: 0.9 }}&gt;PART 02 · 纸质物料 / 活动预约&lt;/Text&gt;&#10;  &lt;/Box&gt;&#10;  {/* 大字编号 */}&#10;  &lt;Box style={{ position: 'absolute', top: 150, left: 80, flexDirection: 'row', alignItems: 'flex-end', gap: 30 }}&gt;&#10;    &lt;Text style={{ fontSize: 160, color: '#FFFFFF', fontWeight: 'bold', lineHeight: 1, opacity: 0.95 }}&gt;02&lt;/Text&gt;&#10;    &lt;Box style={{ width: 4, height: 120, background: '#FFFFFF', opacity: 0.6, marginBottom: 20 }} /&gt;&#10;  &lt;/Box&gt;&#10;  {/* 标题 */}&#10;  &lt;Box style={{ position: 'absolute', top: 380, left: 80, flexDirection: 'column', gap: 16 }}&gt;&#10;    &lt;Text style={{ fontSize: 44, color: '#FFFFFF', fontWeight: 'bold', lineHeight: 1.3 }}&gt;传递物料价值 · 收集秋季热点&lt;/Text&gt;&#10;    &lt;Text style={{ fontSize: 28, color: '#F5A623', fontWeight: 'bold', lineHeight: 1.3, opacity: 0.95 }}&gt;— 一本实物本，打开一所学校&lt;/Text&gt;&#10;  &lt;/Box&gt;&#10;  {/* 引导句 */}&#10;  &lt;Box style={{ position: 'absolute', bottom: 100, left: 80, flexDirection: 'row', alignItems: 'center', gap: 14 }}&gt;&#10;    &lt;FAIcon name=&quot;book-open&quot; style={{ fill: '#FFFFFF', width: 22, height: 22 }} /&gt;&#10;    &lt;Text style={{ fontSize: 20, color: '#FFFFFF', opacity: 0.9 }}&gt;物料价值讲得透，活动预约跟得上&lt;/Text&gt;&#10;  &lt;/Box&gt;&#10;  {/* 右下角小提示 */}&#10;  &lt;Box style={{ position: 'absolute', bottom: 50, right: 60, flexDirection: 'row', alignItems: 'center', gap: 8 }}&gt;&#10;    &lt;Text style={{ fontSize: 14, color: '#FFFFFF', opacity: 0.6 }}&gt;0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矩形 4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478" name="任意多边形 477"/>
          <p:cNvSpPr/>
          <p:nvPr/>
        </p:nvSpPr>
        <p:spPr>
          <a:xfrm>
            <a:off x="9334500" y="-1905000"/>
            <a:ext cx="4762500" cy="4762500"/>
          </a:xfrm>
          <a:custGeom>
            <a:avLst/>
            <a:gdLst/>
            <a:ahLst/>
            <a:cxnLst/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479" name="任意多边形 478"/>
          <p:cNvSpPr/>
          <p:nvPr/>
        </p:nvSpPr>
        <p:spPr>
          <a:xfrm>
            <a:off x="-952500" y="4953000"/>
            <a:ext cx="2857500" cy="2857500"/>
          </a:xfrm>
          <a:custGeom>
            <a:avLst/>
            <a:gdLst/>
            <a:ahLst/>
            <a:cxnLst/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</p:spPr>
        <p:txBody>
          <a:bodyPr/>
          <a:p/>
        </p:txBody>
      </p:sp>
      <p:sp>
        <p:nvSpPr>
          <p:cNvPr id="480" name="矩形 479"/>
          <p:cNvSpPr/>
          <p:nvPr/>
        </p:nvSpPr>
        <p:spPr>
          <a:xfrm>
            <a:off x="762000" y="657225"/>
            <a:ext cx="381000" cy="190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1257300" y="571500"/>
            <a:ext cx="2714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PART 02 · </a:t>
            </a:r>
            <a:r>
              <a:rPr lang="zh-CN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纸质物料</a:t>
            </a:r>
            <a:r>
              <a:rPr lang="en-US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 / </a:t>
            </a:r>
            <a:r>
              <a:rPr lang="zh-CN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活动预约</a:t>
            </a:r>
            <a:endParaRPr lang="zh-CN" sz="1200" b="1" spc="225">
              <a:solidFill>
                <a:srgbClr val="FFFFFF">
                  <a:alpha val="9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762000" y="1428750"/>
            <a:ext cx="169545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</a:rPr>
              <a:t>02</a:t>
            </a:r>
            <a:endParaRPr lang="en-US" sz="12000" b="1">
              <a:solidFill>
                <a:srgbClr val="FFFFFF">
                  <a:alpha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483" name="矩形 482"/>
          <p:cNvSpPr/>
          <p:nvPr/>
        </p:nvSpPr>
        <p:spPr>
          <a:xfrm>
            <a:off x="2743200" y="1924050"/>
            <a:ext cx="38100" cy="1143000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/>
          <a:p/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762000" y="3619500"/>
            <a:ext cx="541020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FFFFFF"/>
                </a:solidFill>
                <a:latin typeface="微软雅黑"/>
                <a:ea typeface="微软雅黑"/>
              </a:rPr>
              <a:t>传递物料价值</a:t>
            </a:r>
            <a:r>
              <a:rPr lang="en-US" sz="3300" b="1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3300" b="1">
                <a:solidFill>
                  <a:srgbClr val="FFFFFF"/>
                </a:solidFill>
                <a:latin typeface="微软雅黑"/>
                <a:ea typeface="微软雅黑"/>
              </a:rPr>
              <a:t>收集秋季热点</a:t>
            </a:r>
            <a:endParaRPr lang="zh-CN" sz="3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762000" y="4429125"/>
            <a:ext cx="54102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— </a:t>
            </a:r>
            <a:r>
              <a:rPr lang="zh-CN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一本实物本，打开一所学校</a:t>
            </a:r>
            <a:endParaRPr lang="zh-CN" sz="2100" b="1">
              <a:solidFill>
                <a:srgbClr val="F5A623">
                  <a:alpha val="95000"/>
                </a:srgbClr>
              </a:solidFill>
              <a:latin typeface="微软雅黑"/>
              <a:ea typeface="微软雅黑"/>
            </a:endParaRPr>
          </a:p>
        </p:txBody>
      </p:sp>
      <p:pic>
        <p:nvPicPr>
          <p:cNvPr id="486" name="图片 48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686425"/>
            <a:ext cx="209550" cy="209550"/>
          </a:xfrm>
          <a:prstGeom prst="rect">
            <a:avLst/>
          </a:prstGeom>
        </p:spPr>
      </p:pic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1104900" y="5676900"/>
            <a:ext cx="285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物料价值讲得透，活动预约跟得上</a:t>
            </a:r>
            <a:endParaRPr lang="zh-CN" sz="1500">
              <a:solidFill>
                <a:srgbClr val="FFFFFF">
                  <a:alpha val="9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11210925" y="6219825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08 / 16</a:t>
            </a:r>
            <a:endParaRPr lang="en-US" sz="1050">
              <a:solidFill>
                <a:srgbClr val="FFFFFF">
                  <a:alpha val="60000"/>
                </a:srgb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9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2 · 纸质物料价值传递&lt;/Text&gt;&#10;      &lt;Text style={{ fontSize: 36, color: '#1B3A5C', fontWeight: 'bold' }}&gt;实物本价值三讲：内容 · 公益 · 服务&lt;/Text&gt;&#10;    &lt;/Box&gt;&#10;  &lt;/Box&gt;&#10;  {/* B区 内容区 */}&#10;  &lt;Box style={{ height: 510, flexDirection: 'column', gap: 20, paddingTop: 20 }}&gt;&#10;    {/* 三讲卡片 */}&#10;    &lt;Box style={{ flex: 5, flexDirection: 'row', gap: 20 }}&gt;&#10;      &lt;Box style={{ flex: 1, background: '#FFFFFF', borderRadius: 12, padding: 26, flexDirection: 'column', boxShadow: '0 4px 20px rgba(0,0,0,0.06)', borderTop: '4px solid #E8602C' }}&gt;&#10;        &lt;Box style={{ width: 52, height: 52, background: '#FDF0E8', borderRadius: 12, justifyContent: 'center', alignItems: 'center', marginBottom: 16 }}&gt;&#10;          &lt;FAIcon name=&quot;book-open&quot; style={{ fill: '#E8602C', width: 24, height: 24 }} /&gt;&#10;        &lt;/Box&gt;&#10;        &lt;Text style={{ fontSize: 20, color: '#1B3A5C', fontWeight: 'bold', marginBottom: 10 }}&gt;讲内容&lt;/Text&gt;&#10;        &lt;Text style={{ fontSize: 15, color: '#5A5A5A', lineHeight: 1.7 }}&gt;&quot;21天计算计划&quot;实物计算册，完全配套新教材；新一年级增加常见字内容；低年级另有定制拼音本，帮学生高效衔接新教材学习。&lt;/Text&gt;&#10;      &lt;/Box&gt;&#10;      &lt;Box style={{ flex: 1, background: '#FFFFFF', borderRadius: 12, padding: 26, flexDirection: 'column', boxShadow: '0 4px 20px rgba(0,0,0,0.06)', borderTop: '4px solid #1B3A5C' }}&gt;&#10;        &lt;Box style={{ width: 52, height: 52, background: '#EBF0F5', borderRadius: 12, justifyContent: 'center', alignItems: 'center', marginBottom: 16 }}&gt;&#10;          &lt;FAIcon name=&quot;check-circle&quot; style={{ fill: '#1B3A5C', width: 24, height: 24 }} /&gt;&#10;        &lt;/Box&gt;&#10;        &lt;Text style={{ fontSize: 20, color: '#1B3A5C', fontWeight: 'bold', marginBottom: 10 }}&gt;讲公益&lt;/Text&gt;&#10;        &lt;Text style={{ fontSize: 15, color: '#5A5A5A', lineHeight: 1.7 }}&gt;纯绿色免费公益资源，不向家长收费；校内统一发放，老师零负担；家长自愿登记领取——这是打消学校顾虑的关键一句。&lt;/Text&gt;&#10;      &lt;/Box&gt;&#10;      &lt;Box style={{ flex: 1, background: '#FFFFFF', borderRadius: 12, padding: 26, flexDirection: 'column', boxShadow: '0 4px 20px rgba(0,0,0,0.06)', borderTop: '4px solid #2BB673' }}&gt;&#10;        &lt;Box style={{ width: 52, height: 52, background: '#E8F5EE', borderRadius: 12, justifyContent: 'center', alignItems: 'center', marginBottom: 16 }}&gt;&#10;          &lt;FAIcon name=&quot;headset&quot; style={{ fill: '#2BB673', width: 24, height: 24 }} /&gt;&#10;        &lt;/Box&gt;&#10;        &lt;Text style={{ fontSize: 20, color: '#1B3A5C', fontWeight: 'bold', marginBottom: 10 }}&gt;讲服务&lt;/Text&gt;&#10;        &lt;Text style={{ fontSize: 15, color: '#5A5A5A', lineHeight: 1.7 }}&gt;不止一本册子：课程 + 讲义 + 计算本一并邮寄到校，配套补缺直播课提醒；后续还有学科节活动免费支持，服务是持续的。&lt;/Text&gt;&#10;      &lt;/Box&gt;&#10;    &lt;/Box&gt;&#10;    {/* 底部：拼音本提示 */}&#10;    &lt;Box style={{ flex: 2, background: '#1B3A5C', borderRadius: 12, padding: 24, flexDirection: 'row', alignItems: 'center', gap: 20 }}&gt;&#10;      &lt;Box style={{ width: 52, height: 52, background: '#E8602C', borderRadius: 12, justifyContent: 'center', alignItems: 'center', flexShrink: 0 }}&gt;&#10;        &lt;FAIcon name=&quot;spell-check&quot; style={{ fill: '#FFFFFF', width: 26, height: 26 }} /&gt;&#10;      &lt;/Box&gt;&#10;      &lt;Box style={{ flexDirection: 'column', gap: 4, flexShrink: 0 }}&gt;&#10;        &lt;Text style={{ fontSize: 18, color: '#FFFFFF', fontWeight: 'bold' }}&gt;语文拼音本&lt;/Text&gt;&#10;        &lt;Text style={{ fontSize: 13, color: '#F5A623', fontWeight: 'bold' }}&gt;低年级定向触达&lt;/Text&gt;&#10;      &lt;/Box&gt;&#10;      &lt;Box style={{ width: 2, height: 56, background: '#E8602C' }} /&gt;&#10;      &lt;Text style={{ fontSize: 16, color: '#FAF8F5', lineHeight: 1.6, flex: 1 }}&gt;话术结构与口算本一致：教研渠道 → 校KP见面沟通 → 获取实物拼音本，确保学生高效衔接新教材；只需把&quot;计算本&quot;替换为&quot;拼音本/学习资源&quot;，重点覆盖一、二年级。&lt;/Text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0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矩形 4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491" name="矩形 490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02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纸质物料价值传递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实物本价值三讲：内容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公益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服务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94" name="圆角矩形 493"/>
          <p:cNvSpPr/>
          <p:nvPr/>
        </p:nvSpPr>
        <p:spPr>
          <a:xfrm>
            <a:off x="571500" y="1371600"/>
            <a:ext cx="3552825" cy="3133725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95" name="任意多边形 494"/>
          <p:cNvSpPr/>
          <p:nvPr/>
        </p:nvSpPr>
        <p:spPr>
          <a:xfrm>
            <a:off x="571500" y="1371600"/>
            <a:ext cx="3552825" cy="3133725"/>
          </a:xfrm>
          <a:custGeom>
            <a:avLst/>
            <a:gdLst/>
            <a:ahLst/>
            <a:cxnLst/>
            <a:pathLst>
              <a:path w="373" h="329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496" name="圆角矩形 495"/>
          <p:cNvSpPr/>
          <p:nvPr/>
        </p:nvSpPr>
        <p:spPr>
          <a:xfrm>
            <a:off x="819150" y="16192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DF0E8"/>
          </a:solidFill>
        </p:spPr>
        <p:txBody>
          <a:bodyPr/>
          <a:p/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752600"/>
            <a:ext cx="228600" cy="228600"/>
          </a:xfrm>
          <a:prstGeom prst="rect">
            <a:avLst/>
          </a:prstGeom>
        </p:spPr>
      </p:pic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819150" y="2266950"/>
            <a:ext cx="3057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3A5C"/>
                </a:solidFill>
                <a:latin typeface="微软雅黑"/>
                <a:ea typeface="微软雅黑"/>
              </a:rPr>
              <a:t>讲内容</a:t>
            </a:r>
            <a:endParaRPr lang="zh-CN" sz="15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819150" y="2590800"/>
            <a:ext cx="3057525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"21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天计算计划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"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实物计算册，完全配套新教材；新一年级增加常见字内容；低年级另有定制拼音本，帮学生高效衔接新教材学习。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500" name="圆角矩形 499"/>
          <p:cNvSpPr/>
          <p:nvPr/>
        </p:nvSpPr>
        <p:spPr>
          <a:xfrm>
            <a:off x="4314825" y="1371600"/>
            <a:ext cx="3562350" cy="3133725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01" name="任意多边形 500"/>
          <p:cNvSpPr/>
          <p:nvPr/>
        </p:nvSpPr>
        <p:spPr>
          <a:xfrm>
            <a:off x="4314825" y="1371600"/>
            <a:ext cx="3562350" cy="3133725"/>
          </a:xfrm>
          <a:custGeom>
            <a:avLst/>
            <a:gdLst/>
            <a:ahLst/>
            <a:cxnLst/>
            <a:pathLst>
              <a:path w="374" h="329">
                <a:moveTo>
                  <a:pt x="363" y="0"/>
                </a:moveTo>
                <a:cubicBezTo>
                  <a:pt x="368" y="0"/>
                  <a:pt x="373" y="4"/>
                  <a:pt x="374" y="10"/>
                </a:cubicBezTo>
                <a:cubicBezTo>
                  <a:pt x="373" y="6"/>
                  <a:pt x="370" y="4"/>
                  <a:pt x="36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502" name="圆角矩形 501"/>
          <p:cNvSpPr/>
          <p:nvPr/>
        </p:nvSpPr>
        <p:spPr>
          <a:xfrm>
            <a:off x="4562475" y="16192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BF0F5"/>
          </a:solidFill>
        </p:spPr>
        <p:txBody>
          <a:bodyPr/>
          <a:p/>
        </p:txBody>
      </p:sp>
      <p:pic>
        <p:nvPicPr>
          <p:cNvPr id="503" name="图片 5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825" y="1752600"/>
            <a:ext cx="228600" cy="228600"/>
          </a:xfrm>
          <a:prstGeom prst="rect">
            <a:avLst/>
          </a:prstGeom>
        </p:spPr>
      </p:pic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4562475" y="2266950"/>
            <a:ext cx="3067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3A5C"/>
                </a:solidFill>
                <a:latin typeface="微软雅黑"/>
                <a:ea typeface="微软雅黑"/>
              </a:rPr>
              <a:t>讲公益</a:t>
            </a:r>
            <a:endParaRPr lang="zh-CN" sz="15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4562475" y="2590800"/>
            <a:ext cx="30670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纯绿色免费公益资源，不向家长收费；校内统一发放，老师零负担；家长自愿登记领取——这是打消学校顾虑的关键一句。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8067675" y="1371600"/>
            <a:ext cx="3552825" cy="3133725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07" name="任意多边形 506"/>
          <p:cNvSpPr/>
          <p:nvPr/>
        </p:nvSpPr>
        <p:spPr>
          <a:xfrm>
            <a:off x="8067675" y="1371600"/>
            <a:ext cx="3552825" cy="3133725"/>
          </a:xfrm>
          <a:custGeom>
            <a:avLst/>
            <a:gdLst/>
            <a:ahLst/>
            <a:cxnLst/>
            <a:pathLst>
              <a:path w="373" h="329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2BB673"/>
          </a:solidFill>
        </p:spPr>
        <p:txBody>
          <a:bodyPr/>
          <a:p/>
        </p:txBody>
      </p:sp>
      <p:sp>
        <p:nvSpPr>
          <p:cNvPr id="508" name="圆角矩形 507"/>
          <p:cNvSpPr/>
          <p:nvPr/>
        </p:nvSpPr>
        <p:spPr>
          <a:xfrm>
            <a:off x="8315325" y="16192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8F5EE"/>
          </a:solidFill>
        </p:spPr>
        <p:txBody>
          <a:bodyPr/>
          <a:p/>
        </p:txBody>
      </p:sp>
      <p:pic>
        <p:nvPicPr>
          <p:cNvPr id="509" name="图片 50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8675" y="1752600"/>
            <a:ext cx="228600" cy="228600"/>
          </a:xfrm>
          <a:prstGeom prst="rect">
            <a:avLst/>
          </a:prstGeom>
        </p:spPr>
      </p:pic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8315325" y="2266950"/>
            <a:ext cx="3057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3A5C"/>
                </a:solidFill>
                <a:latin typeface="微软雅黑"/>
                <a:ea typeface="微软雅黑"/>
              </a:rPr>
              <a:t>讲服务</a:t>
            </a:r>
            <a:endParaRPr lang="zh-CN" sz="15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8315325" y="2590800"/>
            <a:ext cx="3057525" cy="87630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不止一本册子：课程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讲义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计算本一并配套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给到校，配套补缺直播课提醒；后续还有学科节活动免费支持，服务是持续的。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512" name="圆角矩形 511"/>
          <p:cNvSpPr/>
          <p:nvPr/>
        </p:nvSpPr>
        <p:spPr>
          <a:xfrm>
            <a:off x="571500" y="4657725"/>
            <a:ext cx="11049000" cy="1343025"/>
          </a:xfrm>
          <a:prstGeom prst="roundRect">
            <a:avLst>
              <a:gd name="adj" fmla="val 8511"/>
            </a:avLst>
          </a:prstGeom>
          <a:solidFill>
            <a:srgbClr val="1B3A5C"/>
          </a:solidFill>
        </p:spPr>
        <p:txBody>
          <a:bodyPr/>
          <a:p/>
        </p:txBody>
      </p:sp>
      <p:sp>
        <p:nvSpPr>
          <p:cNvPr id="513" name="圆角矩形 512"/>
          <p:cNvSpPr/>
          <p:nvPr/>
        </p:nvSpPr>
        <p:spPr>
          <a:xfrm>
            <a:off x="800100" y="50863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8602C"/>
          </a:solidFill>
        </p:spPr>
        <p:txBody>
          <a:bodyPr/>
          <a:p/>
        </p:txBody>
      </p:sp>
      <p:pic>
        <p:nvPicPr>
          <p:cNvPr id="514" name="图片 51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925" y="5210175"/>
            <a:ext cx="247650" cy="247650"/>
          </a:xfrm>
          <a:prstGeom prst="rect">
            <a:avLst/>
          </a:prstGeom>
        </p:spPr>
      </p:pic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1485900" y="5133975"/>
            <a:ext cx="866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语文拼音本</a:t>
            </a:r>
            <a:endParaRPr lang="zh-CN" sz="135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1485900" y="5381625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5A623"/>
                </a:solidFill>
                <a:latin typeface="微软雅黑"/>
                <a:ea typeface="微软雅黑"/>
              </a:rPr>
              <a:t>低年级定向触达</a:t>
            </a:r>
            <a:endParaRPr lang="zh-CN" sz="97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2543175" y="5067300"/>
            <a:ext cx="19050" cy="5334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2752725" y="5038725"/>
            <a:ext cx="86391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话术结构与口算本一致：教研渠道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校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KP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见面沟通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获取实物拼音本，确保学生高效衔接新教材；只需把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计算本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替换为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拼音本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学习资源</a:t>
            </a:r>
            <a:r>
              <a:rPr lang="en-US" sz="1200">
                <a:solidFill>
                  <a:srgbClr val="FAF8F5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AF8F5"/>
                </a:solidFill>
                <a:latin typeface="微软雅黑"/>
                <a:ea typeface="微软雅黑"/>
              </a:rPr>
              <a:t>，重点覆盖一、二年级。</a:t>
            </a:r>
            <a:endParaRPr lang="zh-CN" sz="1200">
              <a:solidFill>
                <a:srgbClr val="FAF8F5"/>
              </a:solidFill>
              <a:latin typeface="微软雅黑"/>
              <a:ea typeface="微软雅黑"/>
            </a:endParaRPr>
          </a:p>
        </p:txBody>
      </p:sp>
      <p:pic>
        <p:nvPicPr>
          <p:cNvPr id="519" name="图片 51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09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2 · 秋季热点活动收集与反馈&lt;/Text&gt;&#10;      &lt;Text style={{ fontSize: 36, color: '#1B3A5C', fontWeight: 'bold' }}&gt;三个热点入口 · 收集反馈闭环&lt;/Text&gt;&#10;    &lt;/Box&gt;&#10;  &lt;/Box&gt;&#10;  {/* B区 内容区 */}&#10;  &lt;Box style={{ height: 510, flexDirection: 'column', gap: 20, paddingTop: 20 }}&gt;&#10;    {/* 三大热点卡片 */}&#10;    &lt;Box style={{ flex: 5, flexDirection: 'row', gap: 20 }}&gt;&#10;      &lt;Box style={{ flex: 1, background: '#FFFFFF', borderRadius: 12, padding: 24, flexDirection: 'column', boxShadow: '0 4px 20px rgba(0,0,0,0.06)' }}&gt;&#10;        &lt;Box style={{ flexDirection: 'row', alignItems: 'center', gap: 12, marginBottom: 14 }}&gt;&#10;          &lt;Box style={{ width: 48, height: 48, background: '#E8602C', borderRadius: 12, justifyContent: 'center', alignItems: 'center' }}&gt;&#10;            &lt;FAIcon name=&quot;calendar-plus&quot; style={{ fill: '#FFFFFF', width: 22, height: 22 }} /&gt;&#10;          &lt;/Box&gt;&#10;          &lt;Text style={{ fontSize: 18, color: '#1B3A5C', fontWeight: 'bold' }}&gt;学科节活动&lt;/Text&gt;&#10;        &lt;/Box&gt;&#10;        &lt;Text style={{ fontSize: 15, color: '#5A5A5A', lineHeight: 1.7 }}&gt;上学期短、本学期长，很多学校把学科节放到本学期开展，我们免费提供活动支持。&lt;/Text&gt;&#10;        &lt;Box style={{ background: '#FDF0E8', borderRadius: 8, padding: 12, marginTop: 12 }}&gt;&#10;          &lt;Text style={{ fontSize: 13, color: '#E8602C', fontWeight: 'bold', lineHeight: 1.6 }}&gt;26春数学节实证：贡献昆山 26.27% 领课占比、4439 领课、17.10% 转化率&lt;/Text&gt;&#10;        &lt;/Box&gt;&#10;      &lt;/Box&gt;&#10;      &lt;Box style={{ flex: 1, background: '#FFFFFF', borderRadius: 12, padding: 24, flexDirection: 'column', boxShadow: '0 4px 20px rgba(0,0,0,0.06)' }}&gt;&#10;        &lt;Box style={{ flexDirection: 'row', alignItems: 'center', gap: 12, marginBottom: 14 }}&gt;&#10;          &lt;Box style={{ width: 48, height: 48, background: '#1B3A5C', borderRadius: 12, justifyContent: 'center', alignItems: 'center' }}&gt;&#10;            &lt;FAIcon name=&quot;link&quot; style={{ fill: '#FFFFFF', width: 22, height: 22 }} /&gt;&#10;          &lt;/Box&gt;&#10;          &lt;Text style={{ fontSize: 18, color: '#1B3A5C', fontWeight: 'bold' }}&gt;问卷星收集&lt;/Text&gt;&#10;        &lt;/Box&gt;&#10;        &lt;Text style={{ fontSize: 15, color: '#5A5A5A', lineHeight: 1.7 }}&gt;整理好问卷星，请教研分享到区域老师群；有需要的学校自行填写，我们据此第一时间做好一对一服务。&lt;/Text&gt;&#10;        &lt;Box style={{ background: '#EBF0F5', borderRadius: 8, padding: 12, marginTop: 12 }}&gt;&#10;          &lt;Text style={{ fontSize: 13, color: '#1B3A5C', fontWeight: 'bold', lineHeight: 1.6 }}&gt;低成本覆盖全区域：一次转发，收集所有意向学校&lt;/Text&gt;&#10;        &lt;/Box&gt;&#10;      &lt;/Box&gt;&#10;      &lt;Box style={{ flex: 1, background: '#FFFFFF', borderRadius: 12, padding: 24, flexDirection: 'column', boxShadow: '0 4px 20px rgba(0,0,0,0.06)' }}&gt;&#10;        &lt;Box style={{ flexDirection: 'row', alignItems: 'center', gap: 12, marginBottom: 14 }}&gt;&#10;          &lt;Box style={{ width: 48, height: 48, background: '#2BB673', borderRadius: 12, justifyContent: 'center', alignItems: 'center' }}&gt;&#10;            &lt;FAIcon name=&quot;laptop-code&quot; style={{ fill: '#FFFFFF', width: 22, height: 22 }} /&gt;&#10;          &lt;/Box&gt;&#10;          &lt;Text style={{ fontSize: 18, color: '#1B3A5C', fontWeight: 'bold' }}&gt;省测（10月下旬）&lt;/Text&gt;&#10;        &lt;/Box&gt;&#10;        &lt;Text style={{ fontSize: 15, color: '#5A5A5A', lineHeight: 1.7 }}&gt;用往年资源 + 省测上机支持切入：网页端即可查看全校进度，结束后提供区域/学校监测报告，帮领导下校诊断学情。&lt;/Text&gt;&#10;        &lt;Box style={{ background: '#E8F5EE', borderRadius: 8, padding: 12, marginTop: 12 }}&gt;&#10;          &lt;Text style={{ fontSize: 13, color: '#2BB673', fontWeight: 'bold', lineHeight: 1.6 }}&gt;提前问一句：&quot;10月省测有收到通知吗？&quot; 自然打开话题&lt;/Text&gt;&#10;        &lt;/Box&gt;&#10;      &lt;/Box&gt;&#10;    &lt;/Box&gt;&#10;    {/* 底部：反馈闭环 */}&#10;    &lt;Box style={{ flex: 2, background: '#1B3A5C', borderRadius: 12, padding: 22, flexDirection: 'row', alignItems: 'center', gap: 18 }}&gt;&#10;      &lt;Text style={{ fontSize: 16, color: '#F5A623', fontWeight: 'bold', flexShrink: 0 }}&gt;反馈闭环&lt;/Text&gt;&#10;      {['收集需求', '反馈团队', '安排调研/服务', '结果回传学校'].map((t, idx, arr) =&gt; (&#10;        &lt;Box key={idx} style={{ flexDirection: 'row', alignItems: 'center', gap: 18, flex: 1 }}&gt;&#10;          &lt;Box style={{ flex: 1, background: 'rgba(255,255,255,0.12)', borderRadius: 8, padding: '10px 14px', justifyContent: 'center', alignItems: 'center' }}&gt;&#10;            &lt;Text style={{ fontSize: 15, color: '#FFFFFF', fontWeight: 'bold' }}&gt;{t}&lt;/Text&gt;&#10;          &lt;/Box&gt;&#10;          {idx &lt; arr.length - 1 &amp;&amp; (&#10;            &lt;FAIcon name=&quot;arrow-right&quot; style={{ fill: '#F5A623', width: 16, height: 16, flexShrink: 0 }} /&gt;&#10;          )}&#10;        &lt;/Box&gt;&#10;      ))}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69" name="矩形 68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02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秋季热点活动收集与反馈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三个热点入口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收集反馈闭环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71500" y="1333500"/>
            <a:ext cx="3552825" cy="3419475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3" name="圆角矩形 72"/>
          <p:cNvSpPr/>
          <p:nvPr/>
        </p:nvSpPr>
        <p:spPr>
          <a:xfrm>
            <a:off x="800100" y="1562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602C"/>
          </a:solidFill>
        </p:spPr>
        <p:txBody>
          <a:bodyPr/>
          <a:p/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925" y="1685925"/>
            <a:ext cx="209550" cy="209550"/>
          </a:xfrm>
          <a:prstGeom prst="rect">
            <a:avLst/>
          </a:prstGeom>
        </p:spPr>
      </p:pic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371600" y="168592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学科节活动</a:t>
            </a:r>
            <a:endParaRPr lang="zh-CN" sz="13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00100" y="2152650"/>
            <a:ext cx="30956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上学期短、本学期长，很多学校把学科节放到本学期开展，我们免费提供活动支持。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00100" y="2857500"/>
            <a:ext cx="3095625" cy="704850"/>
          </a:xfrm>
          <a:prstGeom prst="roundRect">
            <a:avLst>
              <a:gd name="adj" fmla="val 10811"/>
            </a:avLst>
          </a:prstGeom>
          <a:solidFill>
            <a:srgbClr val="FDF0E8"/>
          </a:solidFill>
        </p:spPr>
        <p:txBody>
          <a:bodyPr/>
          <a:p/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914400" y="2971800"/>
            <a:ext cx="2867025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26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春数学节实证：贡献昆山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 26.27% 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领课占比、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4439 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领课、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17.10% 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转化率</a:t>
            </a:r>
            <a:endParaRPr lang="zh-CN" sz="97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4314825" y="1333500"/>
            <a:ext cx="3562350" cy="3419475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0" name="圆角矩形 79"/>
          <p:cNvSpPr/>
          <p:nvPr/>
        </p:nvSpPr>
        <p:spPr>
          <a:xfrm>
            <a:off x="4543425" y="1562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A5C"/>
          </a:solidFill>
        </p:spPr>
        <p:txBody>
          <a:bodyPr/>
          <a:p/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0" y="1685925"/>
            <a:ext cx="209550" cy="209550"/>
          </a:xfrm>
          <a:prstGeom prst="rect">
            <a:avLst/>
          </a:prstGeom>
        </p:spPr>
      </p:pic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5114925" y="168592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问卷星收集</a:t>
            </a:r>
            <a:endParaRPr lang="zh-CN" sz="13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4543425" y="2152650"/>
            <a:ext cx="31051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整理好问卷星，请教研分享到区域老师群；有需要的学校自行填写，我们据此第一时间做好一对一服务。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4543425" y="3143250"/>
            <a:ext cx="3105150" cy="466725"/>
          </a:xfrm>
          <a:prstGeom prst="roundRect">
            <a:avLst>
              <a:gd name="adj" fmla="val 16327"/>
            </a:avLst>
          </a:prstGeom>
          <a:solidFill>
            <a:srgbClr val="EBF0F5"/>
          </a:solidFill>
        </p:spPr>
        <p:txBody>
          <a:bodyPr/>
          <a:p/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657725" y="3257550"/>
            <a:ext cx="28765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1B3A5C"/>
                </a:solidFill>
                <a:latin typeface="微软雅黑"/>
                <a:ea typeface="微软雅黑"/>
              </a:rPr>
              <a:t>低成本覆盖全区域：一次转发，收集所有意向学校</a:t>
            </a:r>
            <a:endParaRPr lang="zh-CN" sz="9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8067675" y="1333500"/>
            <a:ext cx="3552825" cy="3419475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7" name="圆角矩形 86"/>
          <p:cNvSpPr/>
          <p:nvPr/>
        </p:nvSpPr>
        <p:spPr>
          <a:xfrm>
            <a:off x="8296275" y="1562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BB673"/>
          </a:solidFill>
        </p:spPr>
        <p:txBody>
          <a:bodyPr/>
          <a:p/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0100" y="1685925"/>
            <a:ext cx="209550" cy="209550"/>
          </a:xfrm>
          <a:prstGeom prst="rect">
            <a:avLst/>
          </a:prstGeom>
        </p:spPr>
      </p:pic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8867775" y="1685925"/>
            <a:ext cx="1400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省测（</a:t>
            </a:r>
            <a:r>
              <a:rPr lang="en-US" sz="1350" b="1">
                <a:solidFill>
                  <a:srgbClr val="1B3A5C"/>
                </a:solidFill>
                <a:latin typeface="微软雅黑"/>
                <a:ea typeface="微软雅黑"/>
              </a:rPr>
              <a:t>10</a:t>
            </a:r>
            <a:r>
              <a:rPr lang="zh-CN" sz="1350" b="1">
                <a:solidFill>
                  <a:srgbClr val="1B3A5C"/>
                </a:solidFill>
                <a:latin typeface="微软雅黑"/>
                <a:ea typeface="微软雅黑"/>
              </a:rPr>
              <a:t>月下旬）</a:t>
            </a:r>
            <a:endParaRPr lang="zh-CN" sz="13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8296275" y="2152650"/>
            <a:ext cx="3095625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用往年资源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省测上机支持切入：网页端即可查看全校进度，结束后提供区域</a:t>
            </a:r>
            <a:r>
              <a:rPr lang="en-US" sz="1125">
                <a:solidFill>
                  <a:srgbClr val="5A5A5A"/>
                </a:solidFill>
                <a:latin typeface="微软雅黑"/>
                <a:ea typeface="微软雅黑"/>
              </a:rPr>
              <a:t>/</a:t>
            </a:r>
            <a:r>
              <a:rPr lang="zh-CN" sz="1125">
                <a:solidFill>
                  <a:srgbClr val="5A5A5A"/>
                </a:solidFill>
                <a:latin typeface="微软雅黑"/>
                <a:ea typeface="微软雅黑"/>
              </a:rPr>
              <a:t>学校监测报告，帮领导下校诊断学情。</a:t>
            </a:r>
            <a:endParaRPr lang="zh-CN" sz="112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8296275" y="3143250"/>
            <a:ext cx="3095625" cy="704850"/>
          </a:xfrm>
          <a:prstGeom prst="roundRect">
            <a:avLst>
              <a:gd name="adj" fmla="val 10811"/>
            </a:avLst>
          </a:prstGeom>
          <a:solidFill>
            <a:srgbClr val="E8F5EE"/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410575" y="3257550"/>
            <a:ext cx="2867025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2BB673"/>
                </a:solidFill>
                <a:latin typeface="微软雅黑"/>
                <a:ea typeface="微软雅黑"/>
              </a:rPr>
              <a:t>提前问一句：</a:t>
            </a:r>
            <a:r>
              <a:rPr lang="en-US" sz="975" b="1">
                <a:solidFill>
                  <a:srgbClr val="2BB673"/>
                </a:solidFill>
                <a:latin typeface="微软雅黑"/>
                <a:ea typeface="微软雅黑"/>
              </a:rPr>
              <a:t>"10</a:t>
            </a:r>
            <a:r>
              <a:rPr lang="zh-CN" sz="975" b="1">
                <a:solidFill>
                  <a:srgbClr val="2BB673"/>
                </a:solidFill>
                <a:latin typeface="微软雅黑"/>
                <a:ea typeface="微软雅黑"/>
              </a:rPr>
              <a:t>月省测有收到通知吗？</a:t>
            </a:r>
            <a:r>
              <a:rPr lang="en-US" sz="975" b="1">
                <a:solidFill>
                  <a:srgbClr val="2BB673"/>
                </a:solidFill>
                <a:latin typeface="微软雅黑"/>
                <a:ea typeface="微软雅黑"/>
              </a:rPr>
              <a:t>" </a:t>
            </a:r>
            <a:r>
              <a:rPr lang="zh-CN" sz="975" b="1">
                <a:solidFill>
                  <a:srgbClr val="2BB673"/>
                </a:solidFill>
                <a:latin typeface="微软雅黑"/>
                <a:ea typeface="微软雅黑"/>
              </a:rPr>
              <a:t>自然打开话题</a:t>
            </a:r>
            <a:endParaRPr lang="zh-CN" sz="975" b="1">
              <a:solidFill>
                <a:srgbClr val="2BB673"/>
              </a:solidFill>
              <a:latin typeface="微软雅黑"/>
              <a:ea typeface="微软雅黑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571500" y="4943475"/>
            <a:ext cx="11049000" cy="1057275"/>
          </a:xfrm>
          <a:prstGeom prst="roundRect">
            <a:avLst>
              <a:gd name="adj" fmla="val 10811"/>
            </a:avLst>
          </a:prstGeom>
          <a:solidFill>
            <a:srgbClr val="1B3A5C"/>
          </a:solidFill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781050" y="538162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A623"/>
                </a:solidFill>
                <a:latin typeface="微软雅黑"/>
                <a:ea typeface="微软雅黑"/>
              </a:rPr>
              <a:t>反馈闭环</a:t>
            </a:r>
            <a:endParaRPr lang="zh-CN" sz="12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1562100" y="5295900"/>
            <a:ext cx="2009775" cy="361950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2286000" y="539115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/>
                <a:ea typeface="微软雅黑"/>
              </a:rPr>
              <a:t>收集需求</a:t>
            </a:r>
            <a:endParaRPr lang="zh-CN" sz="1125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3325" y="5400675"/>
            <a:ext cx="152400" cy="152400"/>
          </a:xfrm>
          <a:prstGeom prst="rect">
            <a:avLst/>
          </a:prstGeom>
        </p:spPr>
      </p:pic>
      <p:sp>
        <p:nvSpPr>
          <p:cNvPr id="98" name="圆角矩形 97"/>
          <p:cNvSpPr/>
          <p:nvPr/>
        </p:nvSpPr>
        <p:spPr>
          <a:xfrm>
            <a:off x="4067175" y="5295900"/>
            <a:ext cx="2009775" cy="361950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4791075" y="539115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/>
                <a:ea typeface="微软雅黑"/>
              </a:rPr>
              <a:t>反馈团队</a:t>
            </a:r>
            <a:endParaRPr lang="zh-CN" sz="1125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0" y="5400675"/>
            <a:ext cx="152400" cy="152400"/>
          </a:xfrm>
          <a:prstGeom prst="rect">
            <a:avLst/>
          </a:prstGeom>
        </p:spPr>
      </p:pic>
      <p:sp>
        <p:nvSpPr>
          <p:cNvPr id="101" name="圆角矩形 100"/>
          <p:cNvSpPr/>
          <p:nvPr/>
        </p:nvSpPr>
        <p:spPr>
          <a:xfrm>
            <a:off x="6572250" y="5295900"/>
            <a:ext cx="2009775" cy="361950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124700" y="5391150"/>
            <a:ext cx="904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/>
                <a:ea typeface="微软雅黑"/>
              </a:rPr>
              <a:t>安排调研</a:t>
            </a: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/</a:t>
            </a:r>
            <a:r>
              <a:rPr lang="zh-CN" sz="1125" b="1">
                <a:solidFill>
                  <a:srgbClr val="FFFFFF"/>
                </a:solidFill>
                <a:latin typeface="微软雅黑"/>
                <a:ea typeface="微软雅黑"/>
              </a:rPr>
              <a:t>服务</a:t>
            </a:r>
            <a:endParaRPr lang="zh-CN" sz="1125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475" y="5400675"/>
            <a:ext cx="152400" cy="152400"/>
          </a:xfrm>
          <a:prstGeom prst="rect">
            <a:avLst/>
          </a:prstGeom>
        </p:spPr>
      </p:pic>
      <p:sp>
        <p:nvSpPr>
          <p:cNvPr id="104" name="圆角矩形 103"/>
          <p:cNvSpPr/>
          <p:nvPr/>
        </p:nvSpPr>
        <p:spPr>
          <a:xfrm>
            <a:off x="9077325" y="5295900"/>
            <a:ext cx="2333625" cy="361950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9820275" y="539115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/>
                <a:ea typeface="微软雅黑"/>
              </a:rPr>
              <a:t>结果回传学校</a:t>
            </a:r>
            <a:endParaRPr lang="zh-CN" sz="1125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1220450" y="6115050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11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2 · 领课与触达流程&lt;/Text&gt;&#10;      &lt;Text style={{ fontSize: 36, color: '#1B3A5C', fontWeight: 'bold' }}&gt;领课话术模板 · 5 步触达闭环&lt;/Text&gt;&#10;    &lt;/Box&gt;&#10;  &lt;/Box&gt;&#10;  {/* B区 内容区 */}&#10;  &lt;Box style={{ height: 510, flexDirection: 'column', gap: 20, paddingTop: 20 }}&gt;&#10;    {/* 领课话术开头 */}&#10;    &lt;Box style={{ height: 96, background: '#FDF0E8', borderRadius: 12, padding: 20, flexDirection: 'row', alignItems: 'center', gap: 16, borderLeft: '5px solid #E8602C' }}&gt;&#10;      &lt;FAIcon name=&quot;quote-left&quot; style={{ fill: '#E8602C', width: 26, height: 26 }} /&gt;&#10;      &lt;Box style={{ flex: 1, flexDirection: 'column', gap: 4 }}&gt;&#10;        &lt;Text style={{ fontSize: 16, color: '#E8602C', fontWeight: 'bold' }}&gt;话术开场&lt;/Text&gt;&#10;        &lt;Text style={{ fontSize: 16, color: '#2A2A2A', lineHeight: 1.5 }}&gt;开学收心指导课 + &quot;21天计算计划&quot;实物册免费领取——配合开学节奏，家长接受度最高。&lt;/Text&gt;&#10;      &lt;/Box&gt;&#10;    &lt;/Box&gt;&#10;    {/* 5步流程 */}&#10;    &lt;Box style={{ flex: 1, flexDirection: 'row', gap: 14, alignItems: 'stretch' }}&gt;&#10;      {[&#10;        { n: '1', icon: 'link', t: '点击链接', d: '家长点击领取链接，进入登记页' },&#10;        { n: '2', icon: 'clipboard-list', t: '填写信息', d: '填写学生姓名、年级等基本信息' },&#10;        { n: '3', icon: 'check-circle', t: '回复确认', d: '回复&quot;已参与&quot;，形成登记台账' },&#10;        { n: '4', icon: 'sync-alt', t: '校内发放', d: '实物本到校后校内统一发放' },&#10;        { n: '5', icon: 'headset', t: '触达提醒', d: '补缺直播课提醒，服务不断线' },&#10;      ].map((step, idx, arr) =&gt; (&#10;        &lt;Box key={step.n} style={{ flex: 1, flexDirection: 'row', alignItems: 'center' }}&gt;&#10;          &lt;Box style={{ flex: 1, background: '#FFFFFF', borderRadius: 12, padding: 20, flexDirection: 'column', alignItems: 'center', height: '100%', justifyContent: 'center', gap: 10, boxShadow: '0 4px 20px rgba(0,0,0,0.06)' }}&gt;&#10;            &lt;Box style={{ width: 46, height: 46, background: '#1B3A5C', borderRadius: '50%', justifyContent: 'center', alignItems: 'center' }}&gt;&#10;              &lt;Text style={{ fontSize: 20, color: '#FFFFFF', fontWeight: 'bold' }}&gt;{step.n}&lt;/Text&gt;&#10;            &lt;/Box&gt;&#10;            &lt;Text style={{ fontSize: 17, color: '#1B3A5C', fontWeight: 'bold' }}&gt;{step.t}&lt;/Text&gt;&#10;            &lt;Text style={{ fontSize: 13, color: '#5A5A5A', lineHeight: 1.5, textAlign: 'center' }}&gt;{step.d}&lt;/Text&gt;&#10;          &lt;/Box&gt;&#10;          {idx &lt; arr.length - 1 &amp;&amp; (&#10;            &lt;FAIcon name=&quot;arrow-right&quot; style={{ fill: '#E8602C', width: 16, height: 16, marginLeft: 3, marginRight: 3, flexShrink: 0 }} /&gt;&#10;          )}&#10;        &lt;/Box&gt;&#10;      ))}&#10;    &lt;/Box&gt;&#10;    {/* 底部：温馨提示+触达 */}&#10;    &lt;Box style={{ height: 110, flexDirection: 'row', gap: 20 }}&gt;&#10;      &lt;Box style={{ flex: 1, background: '#FFFFFF', borderRadius: 12, padding: 20, flexDirection: 'column', gap: 8, boxShadow: '0 2px 10px rgba(0,0,0,0.04)' }}&gt;&#10;        &lt;Text style={{ fontSize: 15, color: '#E8602C', fontWeight: 'bold' }}&gt;温馨提示（随话术附上）&lt;/Text&gt;&#10;        &lt;Text style={{ fontSize: 14, color: '#5A5A5A', lineHeight: 1.6 }}&gt;公益免费，不收取任何费用 · 实物本校内统一发放 · 有疑问随时联系老师&lt;/Text&gt;&#10;      &lt;/Box&gt;&#10;      &lt;Box style={{ flex: 1, background: '#FFFFFF', borderRadius: 12, padding: 20, flexDirection: 'column', gap: 8, boxShadow: '0 2px 10px rgba(0,0,0,0.04)' }}&gt;&#10;        &lt;Text style={{ fontSize: 15, color: '#1B3A5C', fontWeight: 'bold' }}&gt;到校触达话术&lt;/Text&gt;&#10;        &lt;Text style={{ fontSize: 14, color: '#5A5A5A', lineHeight: 1.6 }}&gt;课程 + 讲义 + 计算本已一并邮寄到校，请注意查收；补缺直播课时间我再单独提醒您。&lt;/Text&gt;&#10;      &lt;/Box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10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21" name="矩形 20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02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领课与触达流程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领课话术模板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5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步触达闭环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19125" y="133350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FDF0E8"/>
          </a:solidFill>
        </p:spPr>
        <p:txBody>
          <a:bodyPr/>
          <a:p/>
        </p:txBody>
      </p:sp>
      <p:sp>
        <p:nvSpPr>
          <p:cNvPr id="25" name="任意多边形 24"/>
          <p:cNvSpPr/>
          <p:nvPr/>
        </p:nvSpPr>
        <p:spPr>
          <a:xfrm>
            <a:off x="619125" y="1333500"/>
            <a:ext cx="11049000" cy="914400"/>
          </a:xfrm>
          <a:custGeom>
            <a:avLst/>
            <a:gdLst/>
            <a:ahLst/>
            <a:cxnLst/>
            <a:pathLst>
              <a:path w="1160" h="9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89"/>
                </a:lnTo>
                <a:cubicBezTo>
                  <a:pt x="5" y="92"/>
                  <a:pt x="7" y="95"/>
                  <a:pt x="10" y="96"/>
                </a:cubicBezTo>
                <a:cubicBezTo>
                  <a:pt x="4" y="95"/>
                  <a:pt x="0" y="90"/>
                  <a:pt x="0" y="8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625" y="1666875"/>
            <a:ext cx="247650" cy="247650"/>
          </a:xfrm>
          <a:prstGeom prst="rect">
            <a:avLst/>
          </a:prstGeom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1209675" y="1543050"/>
            <a:ext cx="10220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602C"/>
                </a:solidFill>
                <a:latin typeface="微软雅黑"/>
                <a:ea typeface="微软雅黑"/>
              </a:rPr>
              <a:t>话术开场</a:t>
            </a:r>
            <a:endParaRPr lang="zh-CN" sz="12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209675" y="1771650"/>
            <a:ext cx="10220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开学收心指导课</a:t>
            </a:r>
            <a:r>
              <a:rPr lang="en-US" sz="1200">
                <a:solidFill>
                  <a:srgbClr val="2A2A2A"/>
                </a:solidFill>
                <a:latin typeface="微软雅黑"/>
                <a:ea typeface="微软雅黑"/>
              </a:rPr>
              <a:t> + "21</a:t>
            </a: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天计算计划</a:t>
            </a:r>
            <a:r>
              <a:rPr lang="en-US" sz="1200">
                <a:solidFill>
                  <a:srgbClr val="2A2A2A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2A2A2A"/>
                </a:solidFill>
                <a:latin typeface="微软雅黑"/>
                <a:ea typeface="微软雅黑"/>
              </a:rPr>
              <a:t>实物册免费领取——配合开学节奏，家长接受度最高。</a:t>
            </a:r>
            <a:endParaRPr lang="zh-CN" sz="120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71500" y="2438400"/>
            <a:ext cx="1895475" cy="232410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任意多边形 29"/>
          <p:cNvSpPr/>
          <p:nvPr/>
        </p:nvSpPr>
        <p:spPr>
          <a:xfrm>
            <a:off x="1304925" y="2962275"/>
            <a:ext cx="438150" cy="438150"/>
          </a:xfrm>
          <a:custGeom>
            <a:avLst/>
            <a:gdLst/>
            <a:ahLst/>
            <a:cxnLst/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1466850" y="3067050"/>
            <a:ext cx="114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en-US" sz="15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1200150" y="34956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点击链接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762000" y="3790950"/>
            <a:ext cx="15144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家长点击领取链接，进入登记页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5550" y="3524250"/>
            <a:ext cx="152400" cy="152400"/>
          </a:xfrm>
          <a:prstGeom prst="rect">
            <a:avLst/>
          </a:prstGeom>
        </p:spPr>
      </p:pic>
      <p:sp>
        <p:nvSpPr>
          <p:cNvPr id="35" name="圆角矩形 34"/>
          <p:cNvSpPr/>
          <p:nvPr/>
        </p:nvSpPr>
        <p:spPr>
          <a:xfrm>
            <a:off x="2809875" y="2438400"/>
            <a:ext cx="1895475" cy="232410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6" name="任意多边形 35"/>
          <p:cNvSpPr/>
          <p:nvPr/>
        </p:nvSpPr>
        <p:spPr>
          <a:xfrm>
            <a:off x="3543300" y="2962275"/>
            <a:ext cx="438150" cy="438150"/>
          </a:xfrm>
          <a:custGeom>
            <a:avLst/>
            <a:gdLst/>
            <a:ahLst/>
            <a:cxnLst/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3705225" y="3067050"/>
            <a:ext cx="114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en-US" sz="15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3438525" y="34956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填写信息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3000375" y="3790950"/>
            <a:ext cx="15144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填写学生姓名、年级等基本信息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3925" y="3524250"/>
            <a:ext cx="152400" cy="152400"/>
          </a:xfrm>
          <a:prstGeom prst="rect">
            <a:avLst/>
          </a:prstGeom>
        </p:spPr>
      </p:pic>
      <p:sp>
        <p:nvSpPr>
          <p:cNvPr id="41" name="圆角矩形 40"/>
          <p:cNvSpPr/>
          <p:nvPr/>
        </p:nvSpPr>
        <p:spPr>
          <a:xfrm>
            <a:off x="5048250" y="2438400"/>
            <a:ext cx="1885950" cy="23241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" name="任意多边形 41"/>
          <p:cNvSpPr/>
          <p:nvPr/>
        </p:nvSpPr>
        <p:spPr>
          <a:xfrm>
            <a:off x="5772150" y="2962275"/>
            <a:ext cx="438150" cy="438150"/>
          </a:xfrm>
          <a:custGeom>
            <a:avLst/>
            <a:gdLst/>
            <a:ahLst/>
            <a:cxnLst/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934075" y="3067050"/>
            <a:ext cx="114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en-US" sz="15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667375" y="34956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回复确认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238750" y="3790950"/>
            <a:ext cx="15049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回复</a:t>
            </a:r>
            <a:r>
              <a:rPr lang="en-US" sz="975">
                <a:solidFill>
                  <a:srgbClr val="5A5A5A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已参与</a:t>
            </a:r>
            <a:r>
              <a:rPr lang="en-US" sz="975">
                <a:solidFill>
                  <a:srgbClr val="5A5A5A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，形成登记台账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2775" y="3524250"/>
            <a:ext cx="152400" cy="152400"/>
          </a:xfrm>
          <a:prstGeom prst="rect">
            <a:avLst/>
          </a:prstGeom>
        </p:spPr>
      </p:pic>
      <p:sp>
        <p:nvSpPr>
          <p:cNvPr id="47" name="圆角矩形 46"/>
          <p:cNvSpPr/>
          <p:nvPr/>
        </p:nvSpPr>
        <p:spPr>
          <a:xfrm>
            <a:off x="7277100" y="2438400"/>
            <a:ext cx="1895475" cy="232410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8" name="任意多边形 47"/>
          <p:cNvSpPr/>
          <p:nvPr/>
        </p:nvSpPr>
        <p:spPr>
          <a:xfrm>
            <a:off x="8010525" y="3076575"/>
            <a:ext cx="438150" cy="438150"/>
          </a:xfrm>
          <a:custGeom>
            <a:avLst/>
            <a:gdLst/>
            <a:ahLst/>
            <a:cxnLst/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8172450" y="3181350"/>
            <a:ext cx="114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 lang="en-US" sz="15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7905750" y="36099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校内发放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7486650" y="3905250"/>
            <a:ext cx="1485900" cy="2286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实物本到校后校内统一发放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1150" y="3524250"/>
            <a:ext cx="152400" cy="152400"/>
          </a:xfrm>
          <a:prstGeom prst="rect">
            <a:avLst/>
          </a:prstGeom>
        </p:spPr>
      </p:pic>
      <p:sp>
        <p:nvSpPr>
          <p:cNvPr id="53" name="圆角矩形 52"/>
          <p:cNvSpPr/>
          <p:nvPr/>
        </p:nvSpPr>
        <p:spPr>
          <a:xfrm>
            <a:off x="9515475" y="2438400"/>
            <a:ext cx="2105025" cy="2324100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4" name="任意多边形 53"/>
          <p:cNvSpPr/>
          <p:nvPr/>
        </p:nvSpPr>
        <p:spPr>
          <a:xfrm>
            <a:off x="10353675" y="3076575"/>
            <a:ext cx="438150" cy="438150"/>
          </a:xfrm>
          <a:custGeom>
            <a:avLst/>
            <a:gdLst/>
            <a:ahLst/>
            <a:cxnLst/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10515600" y="3181350"/>
            <a:ext cx="114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 lang="en-US" sz="15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0248900" y="36099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触达提醒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9763125" y="3905250"/>
            <a:ext cx="1609725" cy="2286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5A5A5A"/>
                </a:solidFill>
                <a:latin typeface="微软雅黑"/>
                <a:ea typeface="微软雅黑"/>
              </a:rPr>
              <a:t>补缺提醒，服务不断线</a:t>
            </a:r>
            <a:endParaRPr lang="zh-CN" sz="975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571500" y="4953000"/>
            <a:ext cx="5429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effectLst>
            <a:outerShdw blurRad="9525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762000" y="514350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602C"/>
                </a:solidFill>
                <a:latin typeface="微软雅黑"/>
                <a:ea typeface="微软雅黑"/>
              </a:rPr>
              <a:t>温馨提示（随话术附上）</a:t>
            </a:r>
            <a:endParaRPr lang="zh-CN" sz="112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762000" y="5391150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公益免费，不收取任何费用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实物本校内统一发放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有疑问随时联系老师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191250" y="4953000"/>
            <a:ext cx="542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9525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381750" y="514350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3A5C"/>
                </a:solidFill>
                <a:latin typeface="微软雅黑"/>
                <a:ea typeface="微软雅黑"/>
              </a:rPr>
              <a:t>到校触达话术</a:t>
            </a:r>
            <a:endParaRPr lang="zh-CN" sz="112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381750" y="539115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课程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+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讲义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+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计算本已一并邮寄到校，请注意查收；补缺我再单独提醒您。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10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 descr="&lt;Slide style={{ width: '1280px', height: '720px', padding: 0, position: 'relative', background: '#E8602C' }}&gt;&#10;  {/* 渐变背景 */}&#10;  &lt;Box style={{ position: 'absolute', top: 0, left: 0, width: '100%', height: '100%', background: 'linear-gradient(135deg, #2BB673 0%, #1B3A5C 100%)' }} /&gt;&#10;  {/* 装饰几何元素 */}&#10;  &lt;Box style={{ position: 'absolute', top: 0, right: 0, width: 500, height: 500, background: 'rgba(255,255,255,0.08)', borderRadius: '50%', transform: 'translate(200px, -200px)' }} /&gt;&#10;  &lt;Box style={{ position: 'absolute', bottom: 0, left: 0, width: 300, height: 300, background: 'rgba(255,255,255,0.06)', borderRadius: '50%', transform: 'translate(-100px, 100px)' }} /&gt;&#10;  {/* 顶部小标签 */}&#10;  &lt;Box style={{ position: 'absolute', top: 60, left: 80, flexDirection: 'row', alignItems: 'center', gap: 12 }}&gt;&#10;    &lt;Box style={{ width: 40, height: 2, background: '#FFFFFF' }} /&gt;&#10;    &lt;Text style={{ fontSize: 16, color: '#FFFFFF', fontWeight: 'bold', letterSpacing: 3, opacity: 0.9 }}&gt;PART 03 · 过往数据分析&lt;/Text&gt;&#10;  &lt;/Box&gt;&#10;  {/* 大字编号 */}&#10;  &lt;Box style={{ position: 'absolute', top: 150, left: 80, flexDirection: 'row', alignItems: 'flex-end', gap: 30 }}&gt;&#10;    &lt;Text style={{ fontSize: 160, color: '#FFFFFF', fontWeight: 'bold', lineHeight: 1, opacity: 0.95 }}&gt;03&lt;/Text&gt;&#10;    &lt;Box style={{ width: 4, height: 120, background: '#FFFFFF', opacity: 0.6, marginBottom: 20 }} /&gt;&#10;  &lt;/Box&gt;&#10;  {/* 标题 */}&#10;  &lt;Box style={{ position: 'absolute', top: 380, left: 80, flexDirection: 'column', gap: 16 }}&gt;&#10;    &lt;Text style={{ fontSize: 44, color: '#FFFFFF', fontWeight: 'bold', lineHeight: 1.3 }}&gt;实物本对业绩的帮助&lt;/Text&gt;&#10;    &lt;Text style={{ fontSize: 28, color: '#F5A623', fontWeight: 'bold', lineHeight: 1.3, opacity: 0.95 }}&gt;— 用 26 春数据说话&lt;/Text&gt;&#10;  &lt;/Box&gt;&#10;  {/* 引导句 */}&#10;  &lt;Box style={{ position: 'absolute', bottom: 100, left: 80, flexDirection: 'row', alignItems: 'center', gap: 14 }}&gt;&#10;    &lt;FAIcon name=&quot;chart-bar&quot; style={{ fill: '#FFFFFF', width: 22, height: 22 }} /&gt;&#10;    &lt;Text style={{ fontSize: 20, color: '#FFFFFF', opacity: 0.9 }}&gt;数据来源：2026年春季述职报告（苏南区域）&lt;/Text&gt;&#10;  &lt;/Box&gt;&#10;  {/* 右下角小提示 */}&#10;  &lt;Box style={{ position: 'absolute', bottom: 50, right: 60, flexDirection: 'row', alignItems: 'center', gap: 8 }}&gt;&#10;    &lt;Text style={{ fontSize: 14, color: '#FFFFFF', opacity: 0.6 }}&gt;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112" name="任意多边形 111"/>
          <p:cNvSpPr/>
          <p:nvPr/>
        </p:nvSpPr>
        <p:spPr>
          <a:xfrm>
            <a:off x="9334500" y="-1905000"/>
            <a:ext cx="4762500" cy="4762500"/>
          </a:xfrm>
          <a:custGeom>
            <a:avLst/>
            <a:gdLst/>
            <a:ahLst/>
            <a:cxnLst/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13" name="任意多边形 112"/>
          <p:cNvSpPr/>
          <p:nvPr/>
        </p:nvSpPr>
        <p:spPr>
          <a:xfrm>
            <a:off x="-952500" y="4953000"/>
            <a:ext cx="2857500" cy="2857500"/>
          </a:xfrm>
          <a:custGeom>
            <a:avLst/>
            <a:gdLst/>
            <a:ahLst/>
            <a:cxnLst/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</p:spPr>
        <p:txBody>
          <a:bodyPr/>
          <a:p/>
        </p:txBody>
      </p:sp>
      <p:sp>
        <p:nvSpPr>
          <p:cNvPr id="114" name="矩形 113"/>
          <p:cNvSpPr/>
          <p:nvPr/>
        </p:nvSpPr>
        <p:spPr>
          <a:xfrm>
            <a:off x="762000" y="657225"/>
            <a:ext cx="381000" cy="190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257300" y="571500"/>
            <a:ext cx="2143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PART 03 · </a:t>
            </a:r>
            <a:r>
              <a:rPr lang="zh-CN" sz="1200" b="1" spc="225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过往数据分析</a:t>
            </a:r>
            <a:endParaRPr lang="zh-CN" sz="1200" b="1" spc="225">
              <a:solidFill>
                <a:srgbClr val="FFFFFF">
                  <a:alpha val="9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762000" y="1428750"/>
            <a:ext cx="169545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</a:rPr>
              <a:t>03</a:t>
            </a:r>
            <a:endParaRPr lang="en-US" sz="12000" b="1">
              <a:solidFill>
                <a:srgbClr val="FFFFFF">
                  <a:alpha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743200" y="1924050"/>
            <a:ext cx="38100" cy="1143000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762000" y="3619500"/>
            <a:ext cx="377190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FFFFFF"/>
                </a:solidFill>
                <a:latin typeface="微软雅黑"/>
                <a:ea typeface="微软雅黑"/>
              </a:rPr>
              <a:t>实物本对业绩的帮助</a:t>
            </a:r>
            <a:endParaRPr lang="zh-CN" sz="3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762000" y="4429125"/>
            <a:ext cx="37719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— </a:t>
            </a:r>
            <a:r>
              <a:rPr lang="zh-CN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用</a:t>
            </a:r>
            <a:r>
              <a:rPr lang="en-US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 26 </a:t>
            </a:r>
            <a:r>
              <a:rPr lang="zh-CN" sz="2100" b="1">
                <a:solidFill>
                  <a:srgbClr val="F5A623">
                    <a:alpha val="95000"/>
                  </a:srgbClr>
                </a:solidFill>
                <a:latin typeface="微软雅黑"/>
                <a:ea typeface="微软雅黑"/>
              </a:rPr>
              <a:t>春数据说话</a:t>
            </a:r>
            <a:endParaRPr lang="zh-CN" sz="2100" b="1">
              <a:solidFill>
                <a:srgbClr val="F5A623">
                  <a:alpha val="95000"/>
                </a:srgbClr>
              </a:solidFill>
              <a:latin typeface="微软雅黑"/>
              <a:ea typeface="微软雅黑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686425"/>
            <a:ext cx="209550" cy="209550"/>
          </a:xfrm>
          <a:prstGeom prst="rect">
            <a:avLst/>
          </a:prstGeom>
        </p:spPr>
      </p:pic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104900" y="5676900"/>
            <a:ext cx="3857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数据来源：</a:t>
            </a:r>
            <a:r>
              <a:rPr lang="en-US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2026</a:t>
            </a:r>
            <a:r>
              <a:rPr lang="zh-CN" sz="1500">
                <a:solidFill>
                  <a:srgbClr val="FFFFFF">
                    <a:alpha val="90000"/>
                  </a:srgbClr>
                </a:solidFill>
                <a:latin typeface="微软雅黑"/>
                <a:ea typeface="微软雅黑"/>
              </a:rPr>
              <a:t>年春季述职报告（苏南区域）</a:t>
            </a:r>
            <a:endParaRPr lang="zh-CN" sz="1500">
              <a:solidFill>
                <a:srgbClr val="FFFFFF">
                  <a:alpha val="9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1210925" y="6219825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12 / 16</a:t>
            </a:r>
            <a:endParaRPr lang="en-US" sz="1050">
              <a:solidFill>
                <a:srgbClr val="FFFFFF">
                  <a:alpha val="60000"/>
                </a:srgb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3 · 26春业绩总览&lt;/Text&gt;&#10;      &lt;Text style={{ fontSize: 36, color: '#1B3A5C', fontWeight: 'bold' }}&gt;领课连续四学期增长 · 26春创新高&lt;/Text&gt;&#10;    &lt;/Box&gt;&#10;  &lt;/Box&gt;&#10;  {/* B区 内容区 */}&#10;  &lt;Box style={{ height: 510, flexDirection: 'row', gap: 26, paddingTop: 20 }}&gt;&#10;    {/* 左栏：大数字锚点 */}&#10;    &lt;Box style={{ width: '34%', background: 'linear-gradient(135deg, #1B3A5C 0%, #2A5680 100%)', borderRadius: 12, padding: 30, flexDirection: 'column', justifyContent: 'center', alignItems: 'center' }}&gt;&#10;      &lt;Text style={{ fontSize: 14, color: '#F5A623', fontWeight: 'bold', letterSpacing: 2, marginBottom: 6 }}&gt;26春领课总量&lt;/Text&gt;&#10;      &lt;Text style={{ fontSize: 88, color: '#FFFFFF', fontWeight: 'bold', lineHeight: 1 }}&gt;23296&lt;/Text&gt;&#10;      &lt;Box style={{ width: 60, height: 3, background: '#E8602C', marginVertical: 16 }} /&gt;&#10;      &lt;Text style={{ fontSize: 16, color: '#FFFFFF', fontWeight: 'bold', marginBottom: 14 }}&gt;历史新高 · 同比 25春 +62%&lt;/Text&gt;&#10;      &lt;Box style={{ flexDirection: 'row', gap: 10 }}&gt;&#10;        {[&#10;          { v: '51所', t: '领课学校' },&#10;          { v: '3669', t: '低价单' },&#10;          { v: '15.76%', t: '转化率' },&#10;        ].map((m, idx) =&gt; (&#10;          &lt;Box key={idx} style={{ flex: 1, background: 'rgba(255,255,255,0.1)', borderRadius: 8, padding: 10, alignItems: 'center' }}&gt;&#10;            &lt;Text style={{ fontSize: 15, color: '#F5A623', fontWeight: 'bold' }}&gt;{m.v}&lt;/Text&gt;&#10;            &lt;Text style={{ fontSize: 11, color: '#FAF8F5', opacity: 0.8, marginTop: 2 }}&gt;{m.t}&lt;/Text&gt;&#10;          &lt;/Box&gt;&#10;        ))}&#10;      &lt;/Box&gt;&#10;    &lt;/Box&gt;&#10;    {/* 右栏：四学期对比柱状 */}&#10;    &lt;Box style={{ flex: 1, background: '#FFFFFF', borderRadius: 12, padding: 28, flexDirection: 'column', boxShadow: '0 4px 20px rgba(0,0,0,0.06)' }}&gt;&#10;      &lt;Text style={{ fontSize: 16, color: '#8A8A8A', fontWeight: 'bold', letterSpacing: 2, marginBottom: 4 }}&gt;多学期领课总量纵向对比&lt;/Text&gt;&#10;      &lt;Text style={{ fontSize: 13, color: '#8A8A8A', marginBottom: 16 }}&gt;数据来源：26年春季述职报告 · 学期维度数据分析&lt;/Text&gt;&#10;      &lt;Box style={{ flex: 1, flexDirection: 'row', alignItems: 'flex-end', gap: 30, paddingHorizontal: 10 }}&gt;&#10;        {[&#10;          { s: '24秋', v: 12737, h: 100, c: '#8A8A8A' },&#10;          { s: '25春', v: 14374, h: 113, c: '#2A5680' },&#10;          { s: '25秋', v: 19280, h: 151, c: '#1B3A5C' },&#10;          { s: '26春', v: 23296, h: 183, c: '#E8602C' },&#10;        ].map((bar) =&gt; (&#10;          &lt;Box key={bar.s} style={{ flex: 1, flexDirection: 'column', alignItems: 'center', justifyContent: 'flex-end', gap: 8, height: '100%' }}&gt;&#10;            &lt;Text style={{ fontSize: 17, color: bar.c, fontWeight: 'bold' }}&gt;{bar.v.toLocaleString()}&lt;/Text&gt;&#10;            &lt;Box style={{ width: '60%', height: bar.h, background: bar.c, borderRadius: '6px 6px 0 0' }} /&gt;&#10;            &lt;Text style={{ fontSize: 14, color: '#5A5A5A', fontWeight: 'bold' }}&gt;{bar.s}&lt;/Text&gt;&#10;          &lt;/Box&gt;&#10;        ))}&#10;      &lt;/Box&gt;&#10;      &lt;Box style={{ background: '#FDF0E8', borderRadius: 8, padding: 14, marginTop: 16, flexDirection: 'row', alignItems: 'center', gap: 12 }}&gt;&#10;        &lt;FAIcon name=&quot;lightbulb&quot; style={{ fill: '#E8602C', width: 20, height: 20 }} /&gt;&#10;        &lt;Text style={{ fontSize: 14, color: '#2A2A2A', lineHeight: 1.5 }}&gt;述职亮点：开学的口算本落地，快速在第一阶段达成约 1 万（10199）领课——开学动作直接决定学期基本盘。&lt;/Text&gt;&#10;      &lt;/Box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125" name="矩形 124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03 · 26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春业绩总览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领课连续四学期增长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26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春创新高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571500" y="1333500"/>
            <a:ext cx="3752850" cy="4667250"/>
          </a:xfrm>
          <a:prstGeom prst="roundRect">
            <a:avLst>
              <a:gd name="adj" fmla="val 3046"/>
            </a:avLst>
          </a:prstGeom>
          <a:gradFill>
            <a:gsLst>
              <a:gs pos="0">
                <a:srgbClr val="1B3A5C"/>
              </a:gs>
              <a:gs pos="100000">
                <a:srgbClr val="2A5680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971675" y="2619375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5A623"/>
                </a:solidFill>
                <a:latin typeface="微软雅黑"/>
                <a:ea typeface="微软雅黑"/>
              </a:rPr>
              <a:t>26</a:t>
            </a:r>
            <a:r>
              <a:rPr lang="zh-CN" sz="1050" b="1" spc="150">
                <a:solidFill>
                  <a:srgbClr val="F5A623"/>
                </a:solidFill>
                <a:latin typeface="微软雅黑"/>
                <a:ea typeface="微软雅黑"/>
              </a:rPr>
              <a:t>春领课总量</a:t>
            </a:r>
            <a:endParaRPr lang="zh-CN" sz="1050" b="1" spc="150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1285875" y="2838450"/>
            <a:ext cx="2333625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FFFFF"/>
                </a:solidFill>
                <a:latin typeface="微软雅黑"/>
                <a:ea typeface="微软雅黑"/>
              </a:rPr>
              <a:t>23296</a:t>
            </a:r>
            <a:endParaRPr lang="en-US" sz="66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2162175" y="3848100"/>
            <a:ext cx="571500" cy="28575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1524000" y="3876675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历史新高</a:t>
            </a: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同比</a:t>
            </a: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 25</a:t>
            </a: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春</a:t>
            </a: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 +62%</a:t>
            </a:r>
            <a:endParaRPr lang="en-US" sz="1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857250" y="4200525"/>
            <a:ext cx="1000125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209675" y="4295775"/>
            <a:ext cx="304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A623"/>
                </a:solidFill>
                <a:latin typeface="微软雅黑"/>
                <a:ea typeface="微软雅黑"/>
              </a:rPr>
              <a:t>51</a:t>
            </a:r>
            <a:r>
              <a:rPr lang="zh-CN" sz="1125" b="1">
                <a:solidFill>
                  <a:srgbClr val="F5A623"/>
                </a:solidFill>
                <a:latin typeface="微软雅黑"/>
                <a:ea typeface="微软雅黑"/>
              </a:rPr>
              <a:t>所</a:t>
            </a:r>
            <a:endParaRPr lang="zh-CN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1952625" y="4200525"/>
            <a:ext cx="99060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2286000" y="4295775"/>
            <a:ext cx="323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A623"/>
                </a:solidFill>
                <a:latin typeface="微软雅黑"/>
                <a:ea typeface="微软雅黑"/>
              </a:rPr>
              <a:t>3669</a:t>
            </a:r>
            <a:endParaRPr lang="en-US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3038475" y="4200525"/>
            <a:ext cx="1000125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3295650" y="42957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A623"/>
                </a:solidFill>
                <a:latin typeface="微软雅黑"/>
                <a:ea typeface="微软雅黑"/>
              </a:rPr>
              <a:t>15.76%</a:t>
            </a:r>
            <a:endParaRPr lang="en-US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4572000" y="1333500"/>
            <a:ext cx="7048500" cy="466725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4838700" y="1600200"/>
            <a:ext cx="6515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8A8A8A"/>
                </a:solidFill>
                <a:latin typeface="微软雅黑"/>
                <a:ea typeface="微软雅黑"/>
              </a:rPr>
              <a:t>多学期领课总量纵向对比</a:t>
            </a:r>
            <a:endParaRPr lang="zh-CN" sz="1200" b="1" spc="1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4838700" y="1828800"/>
            <a:ext cx="6515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数据来源：</a:t>
            </a:r>
            <a:r>
              <a:rPr lang="en-US" sz="975">
                <a:solidFill>
                  <a:srgbClr val="8A8A8A"/>
                </a:solidFill>
                <a:latin typeface="微软雅黑"/>
                <a:ea typeface="微软雅黑"/>
              </a:rPr>
              <a:t>26</a:t>
            </a: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年春季述职报告</a:t>
            </a:r>
            <a:r>
              <a:rPr lang="en-US" sz="975">
                <a:solidFill>
                  <a:srgbClr val="8A8A8A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学期维度数据分析</a:t>
            </a:r>
            <a:endParaRPr lang="zh-CN" sz="975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5305425" y="3362325"/>
            <a:ext cx="495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A8A8A"/>
                </a:solidFill>
                <a:latin typeface="微软雅黑"/>
                <a:ea typeface="微软雅黑"/>
              </a:rPr>
              <a:t>12,737</a:t>
            </a:r>
            <a:endParaRPr lang="en-US" sz="1275" b="1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5124450" y="3638550"/>
            <a:ext cx="847725" cy="952500"/>
          </a:xfrm>
          <a:custGeom>
            <a:avLst/>
            <a:gdLst/>
            <a:ahLst/>
            <a:cxnLst/>
            <a:pathLst>
              <a:path w="89" h="100">
                <a:moveTo>
                  <a:pt x="6" y="0"/>
                </a:moveTo>
                <a:lnTo>
                  <a:pt x="83" y="0"/>
                </a:lnTo>
                <a:cubicBezTo>
                  <a:pt x="86" y="0"/>
                  <a:pt x="89" y="3"/>
                  <a:pt x="89" y="6"/>
                </a:cubicBezTo>
                <a:lnTo>
                  <a:pt x="89" y="100"/>
                </a:lnTo>
                <a:lnTo>
                  <a:pt x="89" y="100"/>
                </a:lnTo>
                <a:lnTo>
                  <a:pt x="0" y="100"/>
                </a:lnTo>
                <a:lnTo>
                  <a:pt x="0" y="100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A8A8A"/>
          </a:solidFill>
        </p:spPr>
        <p:txBody>
          <a:bodyPr/>
          <a:p/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5410200" y="4667250"/>
            <a:ext cx="285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A5A5A"/>
                </a:solidFill>
                <a:latin typeface="微软雅黑"/>
                <a:ea typeface="微软雅黑"/>
              </a:rPr>
              <a:t>24</a:t>
            </a:r>
            <a:r>
              <a:rPr lang="zh-CN" sz="1050" b="1">
                <a:solidFill>
                  <a:srgbClr val="5A5A5A"/>
                </a:solidFill>
                <a:latin typeface="微软雅黑"/>
                <a:ea typeface="微软雅黑"/>
              </a:rPr>
              <a:t>秋</a:t>
            </a:r>
            <a:endParaRPr lang="zh-CN" sz="1050" b="1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000875" y="3238500"/>
            <a:ext cx="495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5680"/>
                </a:solidFill>
                <a:latin typeface="微软雅黑"/>
                <a:ea typeface="微软雅黑"/>
              </a:rPr>
              <a:t>14,374</a:t>
            </a:r>
            <a:endParaRPr lang="en-US" sz="1275" b="1">
              <a:solidFill>
                <a:srgbClr val="2A5680"/>
              </a:solidFill>
              <a:latin typeface="微软雅黑"/>
              <a:ea typeface="微软雅黑"/>
            </a:endParaRPr>
          </a:p>
        </p:txBody>
      </p:sp>
      <p:sp>
        <p:nvSpPr>
          <p:cNvPr id="146" name="任意多边形 145"/>
          <p:cNvSpPr/>
          <p:nvPr/>
        </p:nvSpPr>
        <p:spPr>
          <a:xfrm>
            <a:off x="6829425" y="3514725"/>
            <a:ext cx="838200" cy="1076325"/>
          </a:xfrm>
          <a:custGeom>
            <a:avLst/>
            <a:gdLst/>
            <a:ahLst/>
            <a:cxnLst/>
            <a:pathLst>
              <a:path w="88" h="113">
                <a:moveTo>
                  <a:pt x="6" y="0"/>
                </a:moveTo>
                <a:lnTo>
                  <a:pt x="82" y="0"/>
                </a:lnTo>
                <a:cubicBezTo>
                  <a:pt x="85" y="0"/>
                  <a:pt x="88" y="3"/>
                  <a:pt x="88" y="6"/>
                </a:cubicBezTo>
                <a:lnTo>
                  <a:pt x="88" y="113"/>
                </a:lnTo>
                <a:lnTo>
                  <a:pt x="88" y="113"/>
                </a:lnTo>
                <a:lnTo>
                  <a:pt x="0" y="113"/>
                </a:lnTo>
                <a:lnTo>
                  <a:pt x="0" y="113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A5680"/>
          </a:solidFill>
        </p:spPr>
        <p:txBody>
          <a:bodyPr/>
          <a:p/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7105650" y="4667250"/>
            <a:ext cx="285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A5A5A"/>
                </a:solidFill>
                <a:latin typeface="微软雅黑"/>
                <a:ea typeface="微软雅黑"/>
              </a:rPr>
              <a:t>25</a:t>
            </a:r>
            <a:r>
              <a:rPr lang="zh-CN" sz="1050" b="1">
                <a:solidFill>
                  <a:srgbClr val="5A5A5A"/>
                </a:solidFill>
                <a:latin typeface="微软雅黑"/>
                <a:ea typeface="微软雅黑"/>
              </a:rPr>
              <a:t>春</a:t>
            </a:r>
            <a:endParaRPr lang="zh-CN" sz="1050" b="1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705850" y="2876550"/>
            <a:ext cx="495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B3A5C"/>
                </a:solidFill>
                <a:latin typeface="微软雅黑"/>
                <a:ea typeface="微软雅黑"/>
              </a:rPr>
              <a:t>19,280</a:t>
            </a:r>
            <a:endParaRPr lang="en-US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8524875" y="3152775"/>
            <a:ext cx="847725" cy="1438275"/>
          </a:xfrm>
          <a:custGeom>
            <a:avLst/>
            <a:gdLst/>
            <a:ahLst/>
            <a:cxnLst/>
            <a:pathLst>
              <a:path w="89" h="151">
                <a:moveTo>
                  <a:pt x="6" y="0"/>
                </a:moveTo>
                <a:lnTo>
                  <a:pt x="83" y="0"/>
                </a:lnTo>
                <a:cubicBezTo>
                  <a:pt x="86" y="0"/>
                  <a:pt x="89" y="3"/>
                  <a:pt x="89" y="6"/>
                </a:cubicBezTo>
                <a:lnTo>
                  <a:pt x="89" y="151"/>
                </a:lnTo>
                <a:lnTo>
                  <a:pt x="89" y="151"/>
                </a:lnTo>
                <a:lnTo>
                  <a:pt x="0" y="151"/>
                </a:lnTo>
                <a:lnTo>
                  <a:pt x="0" y="151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8810625" y="4667250"/>
            <a:ext cx="285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A5A5A"/>
                </a:solidFill>
                <a:latin typeface="微软雅黑"/>
                <a:ea typeface="微软雅黑"/>
              </a:rPr>
              <a:t>25</a:t>
            </a:r>
            <a:r>
              <a:rPr lang="zh-CN" sz="1050" b="1">
                <a:solidFill>
                  <a:srgbClr val="5A5A5A"/>
                </a:solidFill>
                <a:latin typeface="微软雅黑"/>
                <a:ea typeface="微软雅黑"/>
              </a:rPr>
              <a:t>秋</a:t>
            </a:r>
            <a:endParaRPr lang="zh-CN" sz="1050" b="1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0401300" y="2571750"/>
            <a:ext cx="495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602C"/>
                </a:solidFill>
                <a:latin typeface="微软雅黑"/>
                <a:ea typeface="微软雅黑"/>
              </a:rPr>
              <a:t>23,296</a:t>
            </a:r>
            <a:endParaRPr lang="en-US" sz="127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152" name="任意多边形 151"/>
          <p:cNvSpPr/>
          <p:nvPr/>
        </p:nvSpPr>
        <p:spPr>
          <a:xfrm>
            <a:off x="10229850" y="2847975"/>
            <a:ext cx="838200" cy="1743075"/>
          </a:xfrm>
          <a:custGeom>
            <a:avLst/>
            <a:gdLst/>
            <a:ahLst/>
            <a:cxnLst/>
            <a:pathLst>
              <a:path w="88" h="183">
                <a:moveTo>
                  <a:pt x="6" y="0"/>
                </a:moveTo>
                <a:lnTo>
                  <a:pt x="82" y="0"/>
                </a:lnTo>
                <a:cubicBezTo>
                  <a:pt x="85" y="0"/>
                  <a:pt x="88" y="3"/>
                  <a:pt x="88" y="6"/>
                </a:cubicBezTo>
                <a:lnTo>
                  <a:pt x="88" y="183"/>
                </a:lnTo>
                <a:lnTo>
                  <a:pt x="88" y="183"/>
                </a:lnTo>
                <a:lnTo>
                  <a:pt x="0" y="183"/>
                </a:lnTo>
                <a:lnTo>
                  <a:pt x="0" y="183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10506075" y="4667250"/>
            <a:ext cx="285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A5A5A"/>
                </a:solidFill>
                <a:latin typeface="微软雅黑"/>
                <a:ea typeface="微软雅黑"/>
              </a:rPr>
              <a:t>26</a:t>
            </a:r>
            <a:r>
              <a:rPr lang="zh-CN" sz="1050" b="1">
                <a:solidFill>
                  <a:srgbClr val="5A5A5A"/>
                </a:solidFill>
                <a:latin typeface="微软雅黑"/>
                <a:ea typeface="微软雅黑"/>
              </a:rPr>
              <a:t>春</a:t>
            </a:r>
            <a:endParaRPr lang="zh-CN" sz="1050" b="1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4838700" y="4981575"/>
            <a:ext cx="6515100" cy="752475"/>
          </a:xfrm>
          <a:prstGeom prst="roundRect">
            <a:avLst>
              <a:gd name="adj" fmla="val 10127"/>
            </a:avLst>
          </a:prstGeom>
          <a:solidFill>
            <a:srgbClr val="FDF0E8"/>
          </a:solidFill>
        </p:spPr>
        <p:txBody>
          <a:bodyPr/>
          <a:p/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2050" y="5267325"/>
            <a:ext cx="190500" cy="190500"/>
          </a:xfrm>
          <a:prstGeom prst="rect">
            <a:avLst/>
          </a:prstGeom>
        </p:spPr>
      </p:pic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5267325" y="5114925"/>
            <a:ext cx="59531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A2A2A"/>
                </a:solidFill>
                <a:latin typeface="微软雅黑"/>
                <a:ea typeface="微软雅黑"/>
              </a:rPr>
              <a:t>述职亮点：开学的口算本落地，快速在第一阶段达成约</a:t>
            </a:r>
            <a:r>
              <a:rPr lang="en-US" sz="1050">
                <a:solidFill>
                  <a:srgbClr val="2A2A2A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2A2A2A"/>
                </a:solidFill>
                <a:latin typeface="微软雅黑"/>
                <a:ea typeface="微软雅黑"/>
              </a:rPr>
              <a:t>万（</a:t>
            </a:r>
            <a:r>
              <a:rPr lang="en-US" sz="1050">
                <a:solidFill>
                  <a:srgbClr val="2A2A2A"/>
                </a:solidFill>
                <a:latin typeface="微软雅黑"/>
                <a:ea typeface="微软雅黑"/>
              </a:rPr>
              <a:t>10199</a:t>
            </a:r>
            <a:r>
              <a:rPr lang="zh-CN" sz="1050">
                <a:solidFill>
                  <a:srgbClr val="2A2A2A"/>
                </a:solidFill>
                <a:latin typeface="微软雅黑"/>
                <a:ea typeface="微软雅黑"/>
              </a:rPr>
              <a:t>）领课——开学动作直接决定学期基本盘。</a:t>
            </a:r>
            <a:endParaRPr lang="zh-CN" sz="1050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13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1152525" y="4486275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F8F5">
                    <a:alpha val="80000"/>
                  </a:srgbClr>
                </a:solidFill>
                <a:latin typeface="微软雅黑"/>
                <a:ea typeface="微软雅黑"/>
              </a:rPr>
              <a:t>领课学校</a:t>
            </a:r>
            <a:endParaRPr lang="zh-CN" sz="825">
              <a:solidFill>
                <a:srgbClr val="FAF8F5">
                  <a:alpha val="8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2295525" y="448627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F8F5">
                    <a:alpha val="80000"/>
                  </a:srgbClr>
                </a:solidFill>
                <a:latin typeface="微软雅黑"/>
                <a:ea typeface="微软雅黑"/>
              </a:rPr>
              <a:t>低价单</a:t>
            </a:r>
            <a:endParaRPr lang="zh-CN" sz="825">
              <a:solidFill>
                <a:srgbClr val="FAF8F5">
                  <a:alpha val="8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3381375" y="4486275"/>
            <a:ext cx="314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F8F5">
                    <a:alpha val="80000"/>
                  </a:srgbClr>
                </a:solidFill>
                <a:latin typeface="微软雅黑"/>
                <a:ea typeface="微软雅黑"/>
              </a:rPr>
              <a:t>转化率</a:t>
            </a:r>
            <a:endParaRPr lang="zh-CN" sz="825">
              <a:solidFill>
                <a:srgbClr val="FAF8F5">
                  <a:alpha val="80000"/>
                </a:srgb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3 · 实物本路径数据拆解&lt;/Text&gt;&#10;      &lt;Text style={{ fontSize: 36, color: '#1B3A5C', fontWeight: 'bold' }}&gt;实物本贡献近半领课 · 转化稳定&lt;/Text&gt;&#10;    &lt;/Box&gt;&#10;  &lt;/Box&gt;&#10;  {/* B区 内容区 */}&#10;  &lt;Box style={{ height: 510, flexDirection: 'row', gap: 26, paddingTop: 20 }}&gt;&#10;    {/* 左栏：实物本数据（两区域） */}&#10;    &lt;Box style={{ width: '46%', flexDirection: 'column', gap: 16 }}&gt;&#10;      &lt;Box style={{ flex: 1, background: '#FFFFFF', borderRadius: 12, padding: 24, flexDirection: 'column', justifyContent: 'center', boxShadow: '0 4px 20px rgba(0,0,0,0.06)', borderLeft: '5px solid #E8602C' }}&gt;&#10;        &lt;Text style={{ fontSize: 14, color: '#E8602C', fontWeight: 'bold', marginBottom: 6 }}&gt;昆山市&lt;/Text&gt;&#10;        &lt;Box style={{ flexDirection: 'row', alignItems: 'flex-end', gap: 14 }}&gt;&#10;          &lt;Text style={{ fontSize: 46, color: '#1B3A5C', fontWeight: 'bold', lineHeight: 1 }}&gt;30.22%&lt;/Text&gt;&#10;          &lt;Text style={{ fontSize: 14, color: '#5A5A5A', paddingBottom: 6 }}&gt;实物本领课占比 · 5106 领课&lt;/Text&gt;&#10;        &lt;/Box&gt;&#10;        &lt;Text style={{ fontSize: 14, color: '#5A5A5A', marginTop: 8 }}&gt;语文本转化 695 单 · 转化率 13.61%&lt;/Text&gt;&#10;      &lt;/Box&gt;&#10;      &lt;Box style={{ flex: 1, background: '#FFFFFF', borderRadius: 12, padding: 24, flexDirection: 'column', justifyContent: 'center', boxShadow: '0 4px 20px rgba(0,0,0,0.06)', borderLeft: '5px solid #1B3A5C' }}&gt;&#10;        &lt;Text style={{ fontSize: 14, color: '#1B3A5C', fontWeight: 'bold', marginBottom: 6 }}&gt;高新区&lt;/Text&gt;&#10;        &lt;Box style={{ flexDirection: 'row', alignItems: 'flex-end', gap: 14 }}&gt;&#10;          &lt;Text style={{ fontSize: 46, color: '#1B3A5C', fontWeight: 'bold', lineHeight: 1 }}&gt;97%&lt;/Text&gt;&#10;          &lt;Text style={{ fontSize: 14, color: '#5A5A5A', paddingBottom: 6 }}&gt;实物本领课占比 · 6251 领课&lt;/Text&gt;&#10;        &lt;/Box&gt;&#10;        &lt;Text style={{ fontSize: 14, color: '#5A5A5A', marginTop: 8 }}&gt;语文本转化 712 单 · 转化率 11.39%&lt;/Text&gt;&#10;      &lt;/Box&gt;&#10;    &lt;/Box&gt;&#10;    {/* 右栏：各路径领课占比对比（昆山） */}&#10;    &lt;Box style={{ flex: 1, background: '#FFFFFF', borderRadius: 12, padding: 26, flexDirection: 'column', boxShadow: '0 4px 20px rgba(0,0,0,0.06)' }}&gt;&#10;      &lt;Text style={{ fontSize: 16, color: '#8A8A8A', fontWeight: 'bold', letterSpacing: 2, marginBottom: 4 }}&gt;领课来源路径对比&lt;/Text&gt;&#10;      &lt;Text style={{ fontSize: 13, color: '#8A8A8A', marginBottom: 18 }}&gt;26春 · 昆山区域 · 占区域领课总量比例&lt;/Text&gt;&#10;      {[&#10;        { name: '诗词美育项目', pct: 33.63, w: '100%', c: '#8A8A8A', note: '转化率 22.88%' },&#10;        { name: '实物本（口算本+语文本）', pct: 30.22, w: '90%', c: '#E8602C', note: '开学季主力 · 稳定转化' },&#10;        { name: '数学节活动', pct: 26.27, w: '78%', c: '#2A5680', note: '转化率 17.10%' },&#10;        { name: '数独项目', pct: 9.88, w: '30%', c: '#2BB673', note: '转化率 11.31%' },&#10;      ].map((row, idx) =&gt; (&#10;        &lt;Box key={idx} style={{ marginBottom: 20 }}&gt;&#10;          &lt;Box style={{ flexDirection: 'row', justifyContent: 'space-between', alignItems: 'center', marginBottom: 6 }}&gt;&#10;            &lt;Text style={{ fontSize: 15, color: '#2A2A2A', fontWeight: row.c === '#E8602C' ? 'bold' : 'regular' }}&gt;{row.name}&lt;/Text&gt;&#10;            &lt;Text style={{ fontSize: 15, color: row.c, fontWeight: 'bold' }}&gt;{row.pct}%&lt;/Text&gt;&#10;          &lt;/Box&gt;&#10;          &lt;Box style={{ height: 16, background: '#EBF0F5', borderRadius: 8 }}&gt;&#10;            &lt;Box style={{ width: row.w, height: 16, background: row.c, borderRadius: 8 }} /&gt;&#10;          &lt;/Box&gt;&#10;          &lt;Text style={{ fontSize: 12, color: '#8A8A8A', marginTop: 4 }}&gt;{row.note}&lt;/Text&gt;&#10;        &lt;/Box&gt;&#10;      ))}&#10;      &lt;Box style={{ background: '#FDF0E8', borderRadius: 8, padding: 12, marginTop: 'auto' }}&gt;&#10;        &lt;Text style={{ fontSize: 13, color: '#E8602C', fontWeight: 'bold', lineHeight: 1.5 }}&gt;实物本两区合计 11357 领课 ≈ 全区总领课的近一半，且不依赖进校窗口期。&lt;/Text&gt;&#10;      &lt;/Box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矩形 1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165" name="矩形 164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03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实物本路径数据拆解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实物本贡献近半领课</a:t>
            </a:r>
            <a:r>
              <a:rPr lang="en-US" sz="2700" b="1">
                <a:solidFill>
                  <a:srgbClr val="1B3A5C"/>
                </a:solidFill>
                <a:latin typeface="微软雅黑"/>
                <a:ea typeface="微软雅黑"/>
              </a:rPr>
              <a:t> · </a:t>
            </a: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转化稳定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619125" y="1333500"/>
            <a:ext cx="50863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9" name="任意多边形 168"/>
          <p:cNvSpPr/>
          <p:nvPr/>
        </p:nvSpPr>
        <p:spPr>
          <a:xfrm>
            <a:off x="619125" y="1333500"/>
            <a:ext cx="5086350" cy="2257425"/>
          </a:xfrm>
          <a:custGeom>
            <a:avLst/>
            <a:gdLst/>
            <a:ahLst/>
            <a:cxnLst/>
            <a:pathLst>
              <a:path w="534" h="237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230"/>
                </a:lnTo>
                <a:cubicBezTo>
                  <a:pt x="5" y="233"/>
                  <a:pt x="7" y="236"/>
                  <a:pt x="10" y="237"/>
                </a:cubicBezTo>
                <a:cubicBezTo>
                  <a:pt x="4" y="236"/>
                  <a:pt x="0" y="231"/>
                  <a:pt x="0" y="22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602C"/>
          </a:solidFill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47725" y="1971675"/>
            <a:ext cx="458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8602C"/>
                </a:solidFill>
                <a:latin typeface="微软雅黑"/>
                <a:ea typeface="微软雅黑"/>
              </a:rPr>
              <a:t>昆山市</a:t>
            </a:r>
            <a:endParaRPr lang="zh-CN" sz="105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47725" y="2190750"/>
            <a:ext cx="149542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B3A5C"/>
                </a:solidFill>
                <a:latin typeface="微软雅黑"/>
                <a:ea typeface="微软雅黑"/>
              </a:rPr>
              <a:t>30.22%</a:t>
            </a:r>
            <a:endParaRPr lang="en-US" sz="34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2476500" y="2505075"/>
            <a:ext cx="1657350" cy="219075"/>
          </a:xfrm>
          <a:prstGeom prst="rect">
            <a:avLst/>
          </a:prstGeom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实物本领课占比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· 5106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领课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47725" y="2800350"/>
            <a:ext cx="458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1050">
                <a:solidFill>
                  <a:srgbClr val="5A5A5A"/>
                </a:solidFill>
                <a:latin typeface="微软雅黑"/>
                <a:ea typeface="微软雅黑"/>
              </a:rPr>
              <a:t>实物本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转化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695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单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转化率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13.61%</a:t>
            </a:r>
            <a:endParaRPr lang="en-US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619125" y="3743325"/>
            <a:ext cx="50863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5" name="任意多边形 174"/>
          <p:cNvSpPr/>
          <p:nvPr/>
        </p:nvSpPr>
        <p:spPr>
          <a:xfrm>
            <a:off x="619125" y="3743325"/>
            <a:ext cx="5086350" cy="2257425"/>
          </a:xfrm>
          <a:custGeom>
            <a:avLst/>
            <a:gdLst/>
            <a:ahLst/>
            <a:cxnLst/>
            <a:pathLst>
              <a:path w="534" h="237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230"/>
                </a:lnTo>
                <a:cubicBezTo>
                  <a:pt x="5" y="233"/>
                  <a:pt x="7" y="236"/>
                  <a:pt x="10" y="237"/>
                </a:cubicBezTo>
                <a:cubicBezTo>
                  <a:pt x="4" y="236"/>
                  <a:pt x="0" y="231"/>
                  <a:pt x="0" y="22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3A5C"/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847725" y="4381500"/>
            <a:ext cx="458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3A5C"/>
                </a:solidFill>
                <a:latin typeface="微软雅黑"/>
                <a:ea typeface="微软雅黑"/>
              </a:rPr>
              <a:t>高新区</a:t>
            </a:r>
            <a:endParaRPr lang="zh-CN" sz="10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47725" y="4600575"/>
            <a:ext cx="88582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B3A5C"/>
                </a:solidFill>
                <a:latin typeface="微软雅黑"/>
                <a:ea typeface="微软雅黑"/>
              </a:rPr>
              <a:t>97%</a:t>
            </a:r>
            <a:endParaRPr lang="en-US" sz="345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866900" y="4914900"/>
            <a:ext cx="1657350" cy="219075"/>
          </a:xfrm>
          <a:prstGeom prst="rect">
            <a:avLst/>
          </a:prstGeom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实物本领课占比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· 6251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领课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47725" y="5210175"/>
            <a:ext cx="458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1050">
                <a:solidFill>
                  <a:srgbClr val="5A5A5A"/>
                </a:solidFill>
                <a:latin typeface="微软雅黑"/>
                <a:ea typeface="微软雅黑"/>
              </a:rPr>
              <a:t>实物本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转化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712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单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转化率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11.39%</a:t>
            </a:r>
            <a:endParaRPr lang="en-US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5905500" y="1333500"/>
            <a:ext cx="5715000" cy="466725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153150" y="1581150"/>
            <a:ext cx="5219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8A8A8A"/>
                </a:solidFill>
                <a:latin typeface="微软雅黑"/>
                <a:ea typeface="微软雅黑"/>
              </a:rPr>
              <a:t>领课来源路径对比</a:t>
            </a:r>
            <a:endParaRPr lang="zh-CN" sz="1200" b="1" spc="1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6153150" y="1809750"/>
            <a:ext cx="5219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A8A"/>
                </a:solidFill>
                <a:latin typeface="微软雅黑"/>
                <a:ea typeface="微软雅黑"/>
              </a:rPr>
              <a:t>26</a:t>
            </a: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春</a:t>
            </a:r>
            <a:r>
              <a:rPr lang="en-US" sz="975">
                <a:solidFill>
                  <a:srgbClr val="8A8A8A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昆山区域</a:t>
            </a:r>
            <a:r>
              <a:rPr lang="en-US" sz="975">
                <a:solidFill>
                  <a:srgbClr val="8A8A8A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8A8A8A"/>
                </a:solidFill>
                <a:latin typeface="微软雅黑"/>
                <a:ea typeface="微软雅黑"/>
              </a:rPr>
              <a:t>占区域领课总量比例</a:t>
            </a:r>
            <a:endParaRPr lang="zh-CN" sz="975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6153150" y="213360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诗词美育项目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0887075" y="2133600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A8A"/>
                </a:solidFill>
                <a:latin typeface="微软雅黑"/>
                <a:ea typeface="微软雅黑"/>
              </a:rPr>
              <a:t>33.63</a:t>
            </a:r>
            <a:r>
              <a:rPr lang="en-US" sz="1125" b="1">
                <a:solidFill>
                  <a:srgbClr val="8A8A8A"/>
                </a:solidFill>
                <a:latin typeface="微软雅黑"/>
                <a:ea typeface="微软雅黑"/>
              </a:rPr>
              <a:t>%</a:t>
            </a:r>
            <a:endParaRPr lang="en-US" sz="1125" b="1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6153150" y="2362200"/>
            <a:ext cx="5219700" cy="152400"/>
          </a:xfrm>
          <a:prstGeom prst="roundRect">
            <a:avLst>
              <a:gd name="adj" fmla="val 50000"/>
            </a:avLst>
          </a:prstGeom>
          <a:solidFill>
            <a:srgbClr val="EBF0F5"/>
          </a:solidFill>
        </p:spPr>
        <p:txBody>
          <a:bodyPr/>
          <a:p/>
        </p:txBody>
      </p:sp>
      <p:sp>
        <p:nvSpPr>
          <p:cNvPr id="186" name="圆角矩形 185"/>
          <p:cNvSpPr/>
          <p:nvPr/>
        </p:nvSpPr>
        <p:spPr>
          <a:xfrm>
            <a:off x="6153150" y="2362200"/>
            <a:ext cx="5219700" cy="152400"/>
          </a:xfrm>
          <a:prstGeom prst="roundRect">
            <a:avLst>
              <a:gd name="adj" fmla="val 50000"/>
            </a:avLst>
          </a:prstGeom>
          <a:solidFill>
            <a:srgbClr val="8A8A8A"/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6153150" y="2552700"/>
            <a:ext cx="5219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A8A"/>
                </a:solidFill>
                <a:latin typeface="微软雅黑"/>
                <a:ea typeface="微软雅黑"/>
              </a:rPr>
              <a:t>转化率</a:t>
            </a:r>
            <a:r>
              <a:rPr lang="en-US" sz="900">
                <a:solidFill>
                  <a:srgbClr val="8A8A8A"/>
                </a:solidFill>
                <a:latin typeface="微软雅黑"/>
                <a:ea typeface="微软雅黑"/>
              </a:rPr>
              <a:t> 22.88%</a:t>
            </a:r>
            <a:endParaRPr lang="en-US" sz="90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6153150" y="2886075"/>
            <a:ext cx="1657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A2A2A"/>
                </a:solidFill>
                <a:latin typeface="微软雅黑"/>
                <a:ea typeface="微软雅黑"/>
              </a:rPr>
              <a:t>实物本（口算本</a:t>
            </a:r>
            <a:r>
              <a:rPr lang="en-US" sz="1125" b="1">
                <a:solidFill>
                  <a:srgbClr val="2A2A2A"/>
                </a:solidFill>
                <a:latin typeface="微软雅黑"/>
                <a:ea typeface="微软雅黑"/>
              </a:rPr>
              <a:t>+</a:t>
            </a:r>
            <a:r>
              <a:rPr lang="zh-CN" sz="1125" b="1">
                <a:solidFill>
                  <a:srgbClr val="2A2A2A"/>
                </a:solidFill>
                <a:latin typeface="微软雅黑"/>
                <a:ea typeface="微软雅黑"/>
              </a:rPr>
              <a:t>语文本）</a:t>
            </a:r>
            <a:endParaRPr lang="zh-CN" sz="1125" b="1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0887075" y="28860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602C"/>
                </a:solidFill>
                <a:latin typeface="微软雅黑"/>
                <a:ea typeface="微软雅黑"/>
              </a:rPr>
              <a:t>30.22</a:t>
            </a:r>
            <a:r>
              <a:rPr lang="en-US" sz="1125" b="1">
                <a:solidFill>
                  <a:srgbClr val="E8602C"/>
                </a:solidFill>
                <a:latin typeface="微软雅黑"/>
                <a:ea typeface="微软雅黑"/>
              </a:rPr>
              <a:t>%</a:t>
            </a:r>
            <a:endParaRPr lang="en-US" sz="112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6153150" y="3114675"/>
            <a:ext cx="5219700" cy="152400"/>
          </a:xfrm>
          <a:prstGeom prst="roundRect">
            <a:avLst>
              <a:gd name="adj" fmla="val 50000"/>
            </a:avLst>
          </a:prstGeom>
          <a:solidFill>
            <a:srgbClr val="EBF0F5"/>
          </a:solidFill>
        </p:spPr>
        <p:txBody>
          <a:bodyPr/>
          <a:p/>
        </p:txBody>
      </p:sp>
      <p:sp>
        <p:nvSpPr>
          <p:cNvPr id="191" name="圆角矩形 190"/>
          <p:cNvSpPr/>
          <p:nvPr/>
        </p:nvSpPr>
        <p:spPr>
          <a:xfrm>
            <a:off x="6153150" y="3114675"/>
            <a:ext cx="4695825" cy="152400"/>
          </a:xfrm>
          <a:prstGeom prst="roundRect">
            <a:avLst>
              <a:gd name="adj" fmla="val 50000"/>
            </a:avLst>
          </a:prstGeom>
          <a:solidFill>
            <a:srgbClr val="E8602C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6153150" y="3305175"/>
            <a:ext cx="5219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A8A"/>
                </a:solidFill>
                <a:latin typeface="微软雅黑"/>
                <a:ea typeface="微软雅黑"/>
              </a:rPr>
              <a:t>开学季主力</a:t>
            </a:r>
            <a:r>
              <a:rPr lang="en-US" sz="900">
                <a:solidFill>
                  <a:srgbClr val="8A8A8A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A8A8A"/>
                </a:solidFill>
                <a:latin typeface="微软雅黑"/>
                <a:ea typeface="微软雅黑"/>
              </a:rPr>
              <a:t>稳定转化</a:t>
            </a:r>
            <a:endParaRPr lang="zh-CN" sz="90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153150" y="3638550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数学节活动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887075" y="3638550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5680"/>
                </a:solidFill>
                <a:latin typeface="微软雅黑"/>
                <a:ea typeface="微软雅黑"/>
              </a:rPr>
              <a:t>26.27</a:t>
            </a:r>
            <a:r>
              <a:rPr lang="en-US" sz="1125" b="1">
                <a:solidFill>
                  <a:srgbClr val="2A5680"/>
                </a:solidFill>
                <a:latin typeface="微软雅黑"/>
                <a:ea typeface="微软雅黑"/>
              </a:rPr>
              <a:t>%</a:t>
            </a:r>
            <a:endParaRPr lang="en-US" sz="1125" b="1">
              <a:solidFill>
                <a:srgbClr val="2A5680"/>
              </a:solidFill>
              <a:latin typeface="微软雅黑"/>
              <a:ea typeface="微软雅黑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6153150" y="3867150"/>
            <a:ext cx="5219700" cy="152400"/>
          </a:xfrm>
          <a:prstGeom prst="roundRect">
            <a:avLst>
              <a:gd name="adj" fmla="val 50000"/>
            </a:avLst>
          </a:prstGeom>
          <a:solidFill>
            <a:srgbClr val="EBF0F5"/>
          </a:solidFill>
        </p:spPr>
        <p:txBody>
          <a:bodyPr/>
          <a:p/>
        </p:txBody>
      </p:sp>
      <p:sp>
        <p:nvSpPr>
          <p:cNvPr id="196" name="圆角矩形 195"/>
          <p:cNvSpPr/>
          <p:nvPr/>
        </p:nvSpPr>
        <p:spPr>
          <a:xfrm>
            <a:off x="6153150" y="3867150"/>
            <a:ext cx="4067175" cy="152400"/>
          </a:xfrm>
          <a:prstGeom prst="roundRect">
            <a:avLst>
              <a:gd name="adj" fmla="val 50000"/>
            </a:avLst>
          </a:prstGeom>
          <a:solidFill>
            <a:srgbClr val="2A5680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153150" y="4057650"/>
            <a:ext cx="5219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A8A"/>
                </a:solidFill>
                <a:latin typeface="微软雅黑"/>
                <a:ea typeface="微软雅黑"/>
              </a:rPr>
              <a:t>转化率</a:t>
            </a:r>
            <a:r>
              <a:rPr lang="en-US" sz="900">
                <a:solidFill>
                  <a:srgbClr val="8A8A8A"/>
                </a:solidFill>
                <a:latin typeface="微软雅黑"/>
                <a:ea typeface="微软雅黑"/>
              </a:rPr>
              <a:t> 17.10%</a:t>
            </a:r>
            <a:endParaRPr lang="en-US" sz="90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153150" y="43910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2A2A"/>
                </a:solidFill>
                <a:latin typeface="微软雅黑"/>
                <a:ea typeface="微软雅黑"/>
              </a:rPr>
              <a:t>数独项目</a:t>
            </a:r>
            <a:endParaRPr lang="zh-CN" sz="1125">
              <a:solidFill>
                <a:srgbClr val="2A2A2A"/>
              </a:solidFill>
              <a:latin typeface="微软雅黑"/>
              <a:ea typeface="微软雅黑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0963275" y="4391025"/>
            <a:ext cx="4095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BB673"/>
                </a:solidFill>
                <a:latin typeface="微软雅黑"/>
                <a:ea typeface="微软雅黑"/>
              </a:rPr>
              <a:t>9.88</a:t>
            </a:r>
            <a:r>
              <a:rPr lang="en-US" sz="1125" b="1">
                <a:solidFill>
                  <a:srgbClr val="2BB673"/>
                </a:solidFill>
                <a:latin typeface="微软雅黑"/>
                <a:ea typeface="微软雅黑"/>
              </a:rPr>
              <a:t>%</a:t>
            </a:r>
            <a:endParaRPr lang="en-US" sz="1125" b="1">
              <a:solidFill>
                <a:srgbClr val="2BB673"/>
              </a:solidFill>
              <a:latin typeface="微软雅黑"/>
              <a:ea typeface="微软雅黑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6153150" y="4619625"/>
            <a:ext cx="5219700" cy="152400"/>
          </a:xfrm>
          <a:prstGeom prst="roundRect">
            <a:avLst>
              <a:gd name="adj" fmla="val 50000"/>
            </a:avLst>
          </a:prstGeom>
          <a:solidFill>
            <a:srgbClr val="EBF0F5"/>
          </a:solidFill>
        </p:spPr>
        <p:txBody>
          <a:bodyPr/>
          <a:p/>
        </p:txBody>
      </p:sp>
      <p:sp>
        <p:nvSpPr>
          <p:cNvPr id="201" name="圆角矩形 200"/>
          <p:cNvSpPr/>
          <p:nvPr/>
        </p:nvSpPr>
        <p:spPr>
          <a:xfrm>
            <a:off x="6153150" y="4619625"/>
            <a:ext cx="1562100" cy="152400"/>
          </a:xfrm>
          <a:prstGeom prst="roundRect">
            <a:avLst>
              <a:gd name="adj" fmla="val 50000"/>
            </a:avLst>
          </a:prstGeom>
          <a:solidFill>
            <a:srgbClr val="2BB673"/>
          </a:solidFill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153150" y="4810125"/>
            <a:ext cx="5219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A8A"/>
                </a:solidFill>
                <a:latin typeface="微软雅黑"/>
                <a:ea typeface="微软雅黑"/>
              </a:rPr>
              <a:t>转化率</a:t>
            </a:r>
            <a:r>
              <a:rPr lang="en-US" sz="900">
                <a:solidFill>
                  <a:srgbClr val="8A8A8A"/>
                </a:solidFill>
                <a:latin typeface="微软雅黑"/>
                <a:ea typeface="微软雅黑"/>
              </a:rPr>
              <a:t> 11.31%</a:t>
            </a:r>
            <a:endParaRPr lang="en-US" sz="90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6153150" y="52959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FDF0E8"/>
          </a:solidFill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267450" y="541020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实物本两区合计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 11357 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领课</a:t>
            </a:r>
            <a:r>
              <a:rPr lang="en-US" sz="975" b="1">
                <a:solidFill>
                  <a:srgbClr val="E8602C"/>
                </a:solidFill>
                <a:latin typeface="微软雅黑"/>
                <a:ea typeface="微软雅黑"/>
              </a:rPr>
              <a:t> ≈ </a:t>
            </a:r>
            <a:r>
              <a:rPr lang="zh-CN" sz="975" b="1">
                <a:solidFill>
                  <a:srgbClr val="E8602C"/>
                </a:solidFill>
                <a:latin typeface="微软雅黑"/>
                <a:ea typeface="微软雅黑"/>
              </a:rPr>
              <a:t>全区总领课的近一半，且不依赖进校窗口期。</a:t>
            </a:r>
            <a:endParaRPr lang="zh-CN" sz="975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pic>
        <p:nvPicPr>
          <p:cNvPr id="205" name="图片 2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14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" descr="&lt;Slide style={{ width: '1280px', height: '720px', padding: '20px 60px', background: '#FAF8F5' }}&gt;&#10;  {/* A区 标题块 */}&#10;  &lt;Box style={{ height: 100, flexDirection: 'row', alignItems: 'center', gap: 16 }}&gt;&#10;    &lt;Box style={{ width: 6, height: 44, background: '#E8602C' }} /&gt;&#10;    &lt;Box style={{ flex: 1, flexDirection: 'column', gap: 6 }}&gt;&#10;      &lt;Text style={{ fontSize: 14, color: '#E8602C', fontWeight: 'bold', letterSpacing: 2 }}&gt;PART 03 · 数据启示与行动清单&lt;/Text&gt;&#10;      &lt;Text style={{ fontSize: 36, color: '#1B3A5C', fontWeight: 'bold' }}&gt;数据不说谎：实物本做扎实，业绩自然来&lt;/Text&gt;&#10;    &lt;/Box&gt;&#10;  &lt;/Box&gt;&#10;  {/* B区 内容区 */}&#10;  &lt;Box style={{ height: 510, flexDirection: 'column', gap: 18, paddingTop: 20 }}&gt;&#10;    {/* 三条启示 */}&#10;    &lt;Box style={{ flex: 5, flexDirection: 'row', gap: 20 }}&gt;&#10;      &lt;Box style={{ flex: 1, background: '#FFFFFF', borderRadius: 12, padding: 24, flexDirection: 'column', boxShadow: '0 4px 20px rgba(0,0,0,0.06)' }}&gt;&#10;        &lt;Text style={{ fontSize: 40, color: '#E8602C', fontWeight: 'bold', lineHeight: 1, marginBottom: 10 }}&gt;1万&lt;/Text&gt;&#10;        &lt;Text style={{ fontSize: 17, color: '#1B3A5C', fontWeight: 'bold', marginBottom: 8 }}&gt;开学第一波业绩引擎&lt;/Text&gt;&#10;        &lt;Text style={{ fontSize: 14, color: '#5A5A5A', lineHeight: 1.6 }}&gt;口算本落地让26春一阶段即达成 10199 领课，约占全学期 44%——开学动作决定学期基本盘。&lt;/Text&gt;&#10;      &lt;/Box&gt;&#10;      &lt;Box style={{ flex: 1, background: '#FFFFFF', borderRadius: 12, padding: 24, flexDirection: 'column', boxShadow: '0 4px 20px rgba(0,0,0,0.06)' }}&gt;&#10;        &lt;Text style={{ fontSize: 40, color: '#1B3A5C', fontWeight: 'bold', lineHeight: 1, marginBottom: 10 }}&gt;近半&lt;/Text&gt;&#10;        &lt;Text style={{ fontSize: 17, color: '#1B3A5C', fontWeight: 'bold', marginBottom: 8 }}&gt;领课来自实物本路径&lt;/Text&gt;&#10;        &lt;Text style={{ fontSize: 14, color: '#5A5A5A', lineHeight: 1.6 }}&gt;昆山 30.22% + 高新区 97%，两区合计 11357 领课；语文本转化率 11%-14%，稳定可靠。&lt;/Text&gt;&#10;      &lt;/Box&gt;&#10;      &lt;Box style={{ flex: 1, background: '#FFFFFF', borderRadius: 12, padding: 24, flexDirection: 'column', boxShadow: '0 4px 20px rgba(0,0,0,0.06)' }}&gt;&#10;        &lt;Text style={{ fontSize: 40, color: '#2BB673', fontWeight: 'bold', lineHeight: 1, marginBottom: 10 }}&gt;10%+&lt;/Text&gt;&#10;        &lt;Text style={{ fontSize: 17, color: '#1B3A5C', fontWeight: 'bold', marginBottom: 8 }}&gt;一二年级渗透仍有空间&lt;/Text&gt;&#10;        &lt;Text style={{ fontSize: 14, color: '#5A5A5A', lineHeight: 1.6 }}&gt;26春一年级渗透：昆山 16.65% / 高新 13.41%；二年级仅 13.65% / 10.07%——拼音本+口算本正是抓手。&lt;/Text&gt;&#10;      &lt;/Box&gt;&#10;    &lt;/Box&gt;&#10;    {/* 底部：行动清单 */}&#10;    &lt;Box style={{ flex: 4, background: '#1B3A5C', borderRadius: 12, padding: 26, flexDirection: 'column', gap: 14 }}&gt;&#10;      &lt;Text style={{ fontSize: 15, color: '#F5A623', fontWeight: 'bold', letterSpacing: 2 }}&gt;本学期行动清单&lt;/Text&gt;&#10;      &lt;Box style={{ flex: 1, flexDirection: 'row', gap: 16 }}&gt;&#10;        {[&#10;          { phase: '开学前', t: '资源登记 · 订足数量 · 全量沟通摸排' },&#10;          { phase: '开学初', t: '第一时间下发 · 领课话术进家长群' },&#10;          { phase: '开学后', t: '次日反馈数据 · 突出一年级重点' },&#10;          { phase: '全学期', t: '学科节 · 省测活动持续预约跟进' },&#10;        ].map((item, idx) =&gt; (&#10;          &lt;Box key={idx} style={{ flex: 1, background: 'rgba(255,255,255,0.1)', borderRadius: 10, padding: 16, flexDirection: 'column', gap: 8 }}&gt;&#10;            &lt;Box style={{ flexDirection: 'row', alignItems: 'center', gap: 8 }}&gt;&#10;              &lt;FAIcon name=&quot;check-circle&quot; style={{ fill: '#F5A623', width: 16, height: 16 }} /&gt;&#10;              &lt;Text style={{ fontSize: 15, color: '#F5A623', fontWeight: 'bold' }}&gt;{item.phase}&lt;/Text&gt;&#10;            &lt;/Box&gt;&#10;            &lt;Text style={{ fontSize: 14, color: '#FFFFFF', lineHeight: 1.5 }}&gt;{item.t}&lt;/Text&gt;&#10;          &lt;/Box&gt;&#10;        ))}&#10;      &lt;/Box&gt;&#10;    &lt;/Box&gt;&#10;  &lt;/Box&gt;&#10;  {/* C区 页脚条 */}&#10;  &lt;Box style={{ height: 40, flexDirection: 'row', alignItems: 'center', justifyContent: 'space-between' }}&gt;&#10;    &lt;Box style={{ flexDirection: 'row', alignItems: 'center', gap: 10 }}&gt;&#10;      &lt;FAIcon name=&quot;graduation-cap&quot; style={{ fill: '#E8602C', width: 20, height: 20 }} /&gt;&#10;      &lt;Text style={{ fontSize: 14, color: '#8A8A8A' }}&gt;开学即战 · 团队内训&lt;/Text&gt;&#10;    &lt;/Box&gt;&#10;    &lt;Text style={{ fontSize: 14, color: '#8A8A8A' }}&gt;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571500" y="457200"/>
            <a:ext cx="57150" cy="419100"/>
          </a:xfrm>
          <a:prstGeom prst="rect">
            <a:avLst/>
          </a:prstGeom>
          <a:solidFill>
            <a:srgbClr val="E8602C"/>
          </a:soli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781050" y="352425"/>
            <a:ext cx="1083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E8602C"/>
                </a:solidFill>
                <a:latin typeface="微软雅黑"/>
                <a:ea typeface="微软雅黑"/>
              </a:rPr>
              <a:t>PART 03 · </a:t>
            </a:r>
            <a:r>
              <a:rPr lang="zh-CN" sz="1050" b="1" spc="150">
                <a:solidFill>
                  <a:srgbClr val="E8602C"/>
                </a:solidFill>
                <a:latin typeface="微软雅黑"/>
                <a:ea typeface="微软雅黑"/>
              </a:rPr>
              <a:t>数据启示与行动清单</a:t>
            </a:r>
            <a:endParaRPr lang="zh-CN" sz="1050" b="1" spc="150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781050" y="571500"/>
            <a:ext cx="10839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B3A5C"/>
                </a:solidFill>
                <a:latin typeface="微软雅黑"/>
                <a:ea typeface="微软雅黑"/>
              </a:rPr>
              <a:t>数据不说谎：实物本做扎实，业绩自然来</a:t>
            </a:r>
            <a:endParaRPr lang="zh-CN" sz="27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571500" y="1333500"/>
            <a:ext cx="3552825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800100" y="1562100"/>
            <a:ext cx="309562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602C"/>
                </a:solidFill>
                <a:latin typeface="微软雅黑"/>
                <a:ea typeface="微软雅黑"/>
              </a:rPr>
              <a:t>1</a:t>
            </a:r>
            <a:r>
              <a:rPr lang="zh-CN" sz="3000" b="1">
                <a:solidFill>
                  <a:srgbClr val="E8602C"/>
                </a:solidFill>
                <a:latin typeface="微软雅黑"/>
                <a:ea typeface="微软雅黑"/>
              </a:rPr>
              <a:t>万</a:t>
            </a:r>
            <a:endParaRPr lang="zh-CN" sz="3000" b="1">
              <a:solidFill>
                <a:srgbClr val="E8602C"/>
              </a:solidFill>
              <a:latin typeface="微软雅黑"/>
              <a:ea typeface="微软雅黑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800100" y="2114550"/>
            <a:ext cx="3095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开学第一波业绩引擎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800100" y="2390775"/>
            <a:ext cx="30956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口算本落地让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26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春一阶段即达成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10199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领课，约占全学期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44%——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开学动作决定学期基本盘。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217" name="圆角矩形 216"/>
          <p:cNvSpPr/>
          <p:nvPr/>
        </p:nvSpPr>
        <p:spPr>
          <a:xfrm>
            <a:off x="4314825" y="1333500"/>
            <a:ext cx="356235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4543425" y="1562100"/>
            <a:ext cx="31051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B3A5C"/>
                </a:solidFill>
                <a:latin typeface="微软雅黑"/>
                <a:ea typeface="微软雅黑"/>
              </a:rPr>
              <a:t>近半</a:t>
            </a:r>
            <a:endParaRPr lang="zh-CN" sz="3000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543425" y="2114550"/>
            <a:ext cx="3105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领课来自实物本路径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4543425" y="2390775"/>
            <a:ext cx="31051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昆山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30.22% +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高新区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97%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，两区合计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11357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领课；语文本转化率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11%-14%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，稳定可靠。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8067675" y="1333500"/>
            <a:ext cx="3552825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8296275" y="1562100"/>
            <a:ext cx="309562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BB673"/>
                </a:solidFill>
                <a:latin typeface="微软雅黑"/>
                <a:ea typeface="微软雅黑"/>
              </a:rPr>
              <a:t>10%+</a:t>
            </a:r>
            <a:endParaRPr lang="en-US" sz="3000" b="1">
              <a:solidFill>
                <a:srgbClr val="2BB673"/>
              </a:solidFill>
              <a:latin typeface="微软雅黑"/>
              <a:ea typeface="微软雅黑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8296275" y="2114550"/>
            <a:ext cx="3095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3A5C"/>
                </a:solidFill>
                <a:latin typeface="微软雅黑"/>
                <a:ea typeface="微软雅黑"/>
              </a:rPr>
              <a:t>一二年级渗透仍有空间</a:t>
            </a:r>
            <a:endParaRPr lang="zh-CN" sz="1275" b="1">
              <a:solidFill>
                <a:srgbClr val="1B3A5C"/>
              </a:solidFill>
              <a:latin typeface="微软雅黑"/>
              <a:ea typeface="微软雅黑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296275" y="2390775"/>
            <a:ext cx="309562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26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春一年级渗透：昆山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16.65% / 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高新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13.41%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；二年级仅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 13.65% / 10.07%——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拼音本</a:t>
            </a:r>
            <a:r>
              <a:rPr lang="en-US" sz="1050">
                <a:solidFill>
                  <a:srgbClr val="5A5A5A"/>
                </a:solidFill>
                <a:latin typeface="微软雅黑"/>
                <a:ea typeface="微软雅黑"/>
              </a:rPr>
              <a:t>+</a:t>
            </a:r>
            <a:r>
              <a:rPr lang="zh-CN" sz="1050">
                <a:solidFill>
                  <a:srgbClr val="5A5A5A"/>
                </a:solidFill>
                <a:latin typeface="微软雅黑"/>
                <a:ea typeface="微软雅黑"/>
              </a:rPr>
              <a:t>口算本正是抓手。</a:t>
            </a:r>
            <a:endParaRPr lang="zh-CN" sz="1050">
              <a:solidFill>
                <a:srgbClr val="5A5A5A"/>
              </a:solidFill>
              <a:latin typeface="微软雅黑"/>
              <a:ea typeface="微软雅黑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571500" y="4029075"/>
            <a:ext cx="11049000" cy="1971675"/>
          </a:xfrm>
          <a:prstGeom prst="roundRect">
            <a:avLst>
              <a:gd name="adj" fmla="val 5797"/>
            </a:avLst>
          </a:prstGeom>
          <a:solidFill>
            <a:srgbClr val="1B3A5C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819150" y="4276725"/>
            <a:ext cx="10553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623"/>
                </a:solidFill>
                <a:latin typeface="微软雅黑"/>
                <a:ea typeface="微软雅黑"/>
              </a:rPr>
              <a:t>本学期行动清单</a:t>
            </a:r>
            <a:endParaRPr lang="zh-CN" sz="1125" b="1" spc="150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819150" y="4581525"/>
            <a:ext cx="2524125" cy="1171575"/>
          </a:xfrm>
          <a:prstGeom prst="roundRect">
            <a:avLst>
              <a:gd name="adj" fmla="val 8130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pic>
        <p:nvPicPr>
          <p:cNvPr id="228" name="图片 2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550" y="4743450"/>
            <a:ext cx="152400" cy="152400"/>
          </a:xfrm>
          <a:prstGeom prst="rect">
            <a:avLst/>
          </a:prstGeom>
        </p:spPr>
      </p:pic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1200150" y="47339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A623"/>
                </a:solidFill>
                <a:latin typeface="微软雅黑"/>
                <a:ea typeface="微软雅黑"/>
              </a:rPr>
              <a:t>开学前</a:t>
            </a:r>
            <a:endParaRPr lang="zh-CN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71550" y="4981575"/>
            <a:ext cx="2219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资源登记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订足数量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全量沟通摸排</a:t>
            </a:r>
            <a:endParaRPr lang="zh-CN" sz="105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3495675" y="4581525"/>
            <a:ext cx="2524125" cy="1171575"/>
          </a:xfrm>
          <a:prstGeom prst="roundRect">
            <a:avLst>
              <a:gd name="adj" fmla="val 8130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4743450"/>
            <a:ext cx="152400" cy="152400"/>
          </a:xfrm>
          <a:prstGeom prst="rect">
            <a:avLst/>
          </a:prstGeom>
        </p:spPr>
      </p:pic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3876675" y="47339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A623"/>
                </a:solidFill>
                <a:latin typeface="微软雅黑"/>
                <a:ea typeface="微软雅黑"/>
              </a:rPr>
              <a:t>开学初</a:t>
            </a:r>
            <a:endParaRPr lang="zh-CN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648075" y="4981575"/>
            <a:ext cx="2219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第一时间下发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领课话术进家长群</a:t>
            </a:r>
            <a:endParaRPr lang="zh-CN" sz="105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35" name="圆角矩形 234"/>
          <p:cNvSpPr/>
          <p:nvPr/>
        </p:nvSpPr>
        <p:spPr>
          <a:xfrm>
            <a:off x="6172200" y="4581525"/>
            <a:ext cx="2524125" cy="1171575"/>
          </a:xfrm>
          <a:prstGeom prst="roundRect">
            <a:avLst>
              <a:gd name="adj" fmla="val 8130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pic>
        <p:nvPicPr>
          <p:cNvPr id="236" name="图片 2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4600" y="4743450"/>
            <a:ext cx="152400" cy="152400"/>
          </a:xfrm>
          <a:prstGeom prst="rect">
            <a:avLst/>
          </a:prstGeom>
        </p:spPr>
      </p:pic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6553200" y="47339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A623"/>
                </a:solidFill>
                <a:latin typeface="微软雅黑"/>
                <a:ea typeface="微软雅黑"/>
              </a:rPr>
              <a:t>开学后</a:t>
            </a:r>
            <a:endParaRPr lang="zh-CN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324600" y="4981575"/>
            <a:ext cx="2219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次日反馈数据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突出一年级重点</a:t>
            </a:r>
            <a:endParaRPr lang="zh-CN" sz="105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8848725" y="4581525"/>
            <a:ext cx="2524125" cy="1171575"/>
          </a:xfrm>
          <a:prstGeom prst="roundRect">
            <a:avLst>
              <a:gd name="adj" fmla="val 8130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pic>
        <p:nvPicPr>
          <p:cNvPr id="240" name="图片 2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1125" y="4743450"/>
            <a:ext cx="152400" cy="152400"/>
          </a:xfrm>
          <a:prstGeom prst="rect">
            <a:avLst/>
          </a:prstGeom>
        </p:spPr>
      </p:pic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9229725" y="47339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A623"/>
                </a:solidFill>
                <a:latin typeface="微软雅黑"/>
                <a:ea typeface="微软雅黑"/>
              </a:rPr>
              <a:t>全学期</a:t>
            </a:r>
            <a:endParaRPr lang="zh-CN" sz="1125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9001125" y="4981575"/>
            <a:ext cx="2219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学科节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省测活动持续预约跟进</a:t>
            </a:r>
            <a:endParaRPr lang="zh-CN" sz="105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243" name="图片 2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6096000"/>
            <a:ext cx="190500" cy="190500"/>
          </a:xfrm>
          <a:prstGeom prst="rect">
            <a:avLst/>
          </a:prstGeom>
        </p:spPr>
      </p:pic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857250" y="6115050"/>
            <a:ext cx="1190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微软雅黑"/>
                <a:ea typeface="微软雅黑"/>
              </a:rPr>
              <a:t>开学即战</a:t>
            </a: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 </a:t>
            </a:r>
            <a:endParaRPr lang="zh-CN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11210925" y="6115050"/>
            <a:ext cx="409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微软雅黑"/>
                <a:ea typeface="微软雅黑"/>
              </a:rPr>
              <a:t>15 / 16</a:t>
            </a:r>
            <a:endParaRPr lang="en-US" sz="1050">
              <a:solidFill>
                <a:srgbClr val="8A8A8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 descr="&lt;Slide style={{ width: '1280px', height: '720px', padding: 0, position: 'relative', background: '#1B3A5C' }}&gt;&#10;  {/* 渐变背景 */}&#10;  &lt;Box style={{ position: 'absolute', top: 0, left: 0, width: '100%', height: '100%', background: 'linear-gradient(135deg, #1B3A5C 0%, #2A5680 50%, #E8602C 100%)' }} /&gt;&#10;  {/* 装饰几何元素 */}&#10;  &lt;Box style={{ position: 'absolute', top: 0, right: 0, width: 600, height: 600, background: 'rgba(255,255,255,0.06)', borderRadius: '50%', transform: 'translate(250px, -250px)' }} /&gt;&#10;  &lt;Box style={{ position: 'absolute', bottom: 0, left: 0, width: 400, height: 400, background: 'rgba(255,255,255,0.04)', borderRadius: '50%', transform: 'translate(-150px, 150px)' }} /&gt;&#10;  {/* 顶部小标签 */}&#10;  &lt;Box style={{ position: 'absolute', top: 80, left: '50%', flexDirection: 'row', alignItems: 'center', gap: 12 }}&gt;&#10;    &lt;Box style={{ width: 40, height: 2, background: '#F5A623' }} /&gt;&#10;    &lt;Text style={{ fontSize: 16, color: '#F5A623', fontWeight: 'bold', letterSpacing: 4 }}&gt;THANK YOU&lt;/Text&gt;&#10;    &lt;Box style={{ width: 40, height: 2, background: '#F5A623' }} /&gt;&#10;  &lt;/Box&gt;&#10;  {/* 居中金句 */}&#10;  &lt;Box style={{ position: 'absolute', top: 220, left: 0, right: 0, alignItems: 'center' }}&gt;&#10;    &lt;Box style={{ flexDirection: 'row', alignItems: 'center', justifyContent: 'center', gap: 16, marginBottom: 24 }}&gt;&#10;      &lt;Box style={{ width: 80, height: 3, background: '#F5A623' }} /&gt;&#10;      &lt;FAIcon name=&quot;quote-left&quot; style={{ fill: '#F5A623', width: 36, height: 36 }} /&gt;&#10;      &lt;Box style={{ width: 80, height: 3, background: '#F5A623' }} /&gt;&#10;    &lt;/Box&gt;&#10;  &lt;/Box&gt;&#10;  &lt;Box style={{ position: 'absolute', top: 290, left: 0, right: 0, alignItems: 'center', padding: '0 100px' }}&gt;&#10;    &lt;Text style={{ fontSize: 56, color: '#FFFFFF', fontWeight: 'bold', textAlign: 'center', lineHeight: 1.4 }}&gt;困难定会过去&lt;/Text&gt;&#10;    &lt;Text style={{ fontSize: 56, color: '#FFFFFF', fontWeight: 'bold', textAlign: 'center', lineHeight: 1.4, marginTop: 12 }}&gt;秋天终会收获&lt;/Text&gt;&#10;  &lt;/Box&gt;&#10;  {/* 副金句 */}&#10;  &lt;Box style={{ position: 'absolute', top: 480, left: 0, right: 0, alignItems: 'center' }}&gt;&#10;    &lt;Text style={{ fontSize: 22, color: '#F5A623', fontWeight: 'bold', textAlign: 'center', lineHeight: 1.5 }}&gt;做长期有价值 且具有幸福感的企业&lt;/Text&gt;&#10;  &lt;/Box&gt;&#10;  {/* 底部小盒标识 */}&#10;  &lt;Box style={{ position: 'absolute', bottom: 60, left: 0, right: 0, alignItems: 'center' }}&gt;&#10;    &lt;Box style={{ flexDirection: 'row', alignItems: 'center', gap: 12, padding: 14, background: 'rgba(255,255,255,0.1)', borderRadius: 30, paddingHorizontal: 28 }}&gt;&#10;      &lt;Box style={{ width: 36, height: 36, background: '#E8602C', borderRadius: 8, justifyContent: 'center', alignItems: 'center' }}&gt;&#10;        &lt;Text style={{ fontSize: 18, color: '#FFFFFF', fontWeight: 'bold' }}&gt;盒&lt;/Text&gt;&#10;      &lt;/Box&gt;&#10;      &lt;Text style={{ fontSize: 16, color: '#FFFFFF', fontWeight: 'bold' }}&gt;小盒老师 · 教学服务团队&lt;/Text&gt;&#10;      &lt;Box style={{ width: 1, height: 20, background: 'rgba(255,255,255,0.3)' }} /&gt;&#10;      &lt;Text style={{ fontSize: 14, color: '#FAF8F5', opacity: 0.8 }}&gt;教得更好 · 学得更好&lt;/Text&gt;&#10;    &lt;/Box&gt;&#10;  &lt;/Box&gt;&#10;  {/* 右下角页码 */}&#10;  &lt;Box style={{ position: 'absolute', bottom: 30, right: 60, flexDirection: 'row', alignItems: 'center', gap: 8 }}&gt;&#10;    &lt;Text style={{ fontSize: 12, color: '#FFFFFF', opacity: 0.5 }}&gt;1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任意多边形 248"/>
          <p:cNvSpPr/>
          <p:nvPr/>
        </p:nvSpPr>
        <p:spPr>
          <a:xfrm>
            <a:off x="8858250" y="-2381250"/>
            <a:ext cx="5715000" cy="5715000"/>
          </a:xfrm>
          <a:custGeom>
            <a:avLst/>
            <a:gdLst/>
            <a:ahLst/>
            <a:cxnLst/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</p:spPr>
        <p:txBody>
          <a:bodyPr/>
          <a:p/>
        </p:txBody>
      </p:sp>
      <p:sp>
        <p:nvSpPr>
          <p:cNvPr id="250" name="任意多边形 249"/>
          <p:cNvSpPr/>
          <p:nvPr/>
        </p:nvSpPr>
        <p:spPr>
          <a:xfrm>
            <a:off x="-1428750" y="4476750"/>
            <a:ext cx="3810000" cy="3810000"/>
          </a:xfrm>
          <a:custGeom>
            <a:avLst/>
            <a:gdLst/>
            <a:ahLst/>
            <a:cxnLst/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251" name="矩形 250"/>
          <p:cNvSpPr/>
          <p:nvPr/>
        </p:nvSpPr>
        <p:spPr>
          <a:xfrm>
            <a:off x="6096000" y="847725"/>
            <a:ext cx="381000" cy="19050"/>
          </a:xfrm>
          <a:prstGeom prst="rect">
            <a:avLst/>
          </a:prstGeom>
          <a:solidFill>
            <a:srgbClr val="F5A623"/>
          </a:solidFill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6591300" y="762000"/>
            <a:ext cx="1257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F5A623"/>
                </a:solidFill>
                <a:latin typeface="微软雅黑"/>
                <a:ea typeface="微软雅黑"/>
              </a:rPr>
              <a:t>THANK YOU</a:t>
            </a:r>
            <a:endParaRPr lang="en-US" sz="1200" b="1" spc="300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7962900" y="847725"/>
            <a:ext cx="381000" cy="19050"/>
          </a:xfrm>
          <a:prstGeom prst="rect">
            <a:avLst/>
          </a:prstGeom>
          <a:solidFill>
            <a:srgbClr val="F5A623"/>
          </a:solidFill>
        </p:spPr>
        <p:txBody>
          <a:bodyPr/>
          <a:p/>
        </p:txBody>
      </p:sp>
      <p:sp>
        <p:nvSpPr>
          <p:cNvPr id="254" name="矩形 253"/>
          <p:cNvSpPr/>
          <p:nvPr/>
        </p:nvSpPr>
        <p:spPr>
          <a:xfrm>
            <a:off x="5010150" y="2257425"/>
            <a:ext cx="762000" cy="28575"/>
          </a:xfrm>
          <a:prstGeom prst="rect">
            <a:avLst/>
          </a:prstGeom>
          <a:solidFill>
            <a:srgbClr val="F5A623"/>
          </a:solidFill>
        </p:spPr>
        <p:txBody>
          <a:bodyPr/>
          <a:p/>
        </p:txBody>
      </p:sp>
      <p:pic>
        <p:nvPicPr>
          <p:cNvPr id="255" name="图片 25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4550" y="2095500"/>
            <a:ext cx="342900" cy="342900"/>
          </a:xfrm>
          <a:prstGeom prst="rect">
            <a:avLst/>
          </a:prstGeom>
        </p:spPr>
      </p:pic>
      <p:sp>
        <p:nvSpPr>
          <p:cNvPr id="256" name="矩形 255"/>
          <p:cNvSpPr/>
          <p:nvPr/>
        </p:nvSpPr>
        <p:spPr>
          <a:xfrm>
            <a:off x="6419850" y="2257425"/>
            <a:ext cx="762000" cy="28575"/>
          </a:xfrm>
          <a:prstGeom prst="rect">
            <a:avLst/>
          </a:prstGeom>
          <a:solidFill>
            <a:srgbClr val="F5A623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4495800" y="2762250"/>
            <a:ext cx="3200400" cy="904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困难定会过去</a:t>
            </a:r>
            <a:endParaRPr lang="zh-CN" sz="4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4495800" y="3781425"/>
            <a:ext cx="3200400" cy="904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秋天终会收获</a:t>
            </a:r>
            <a:endParaRPr lang="zh-CN" sz="4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6562725" y="5886450"/>
            <a:ext cx="9525" cy="1905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1268075" y="6429375"/>
            <a:ext cx="352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16 / 16</a:t>
            </a:r>
            <a:endParaRPr lang="en-US" sz="900">
              <a:solidFill>
                <a:srgbClr val="FFFFFF">
                  <a:alpha val="50000"/>
                </a:srgb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4205" y="2249912"/>
            <a:ext cx="856785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4400" b="1" dirty="0">
                <a:solidFill>
                  <a:schemeClr val="bg1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rPr>
              <a:t>做长期有价值</a:t>
            </a:r>
            <a:endParaRPr kumimoji="1" lang="zh-CN" altLang="en-US" sz="4400" b="1" dirty="0">
              <a:solidFill>
                <a:schemeClr val="bg1"/>
              </a:solidFill>
              <a:latin typeface="Source Han Sans CN Bold" panose="020B0500000000000000" pitchFamily="34" charset="-128"/>
              <a:ea typeface="Source Han Sans CN Bold" panose="020B0500000000000000" pitchFamily="3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0759" y="3070885"/>
            <a:ext cx="8567854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6600" b="1" dirty="0">
                <a:solidFill>
                  <a:schemeClr val="bg1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rPr>
              <a:t>且具有幸福感的企业</a:t>
            </a:r>
            <a:endParaRPr kumimoji="1" lang="zh-CN" altLang="en-US" sz="6600" b="1" dirty="0">
              <a:solidFill>
                <a:schemeClr val="bg1"/>
              </a:solidFill>
              <a:latin typeface="Source Han Sans CN Bold" panose="020B0500000000000000" pitchFamily="34" charset="-128"/>
              <a:ea typeface="Source Han Sans CN Bold" panose="020B0500000000000000" pitchFamily="34" charset="-128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7086" y="4397753"/>
            <a:ext cx="85678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rPr>
              <a:t>Thank</a:t>
            </a:r>
            <a:r>
              <a:rPr kumimoji="1" lang="zh-CN" altLang="en-US" sz="2400" b="1" dirty="0">
                <a:solidFill>
                  <a:schemeClr val="bg1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rPr>
              <a:t>  </a:t>
            </a:r>
            <a:r>
              <a:rPr kumimoji="1" lang="en-US" altLang="zh-CN" sz="2400" b="1" dirty="0">
                <a:solidFill>
                  <a:schemeClr val="bg1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rPr>
              <a:t>You</a:t>
            </a:r>
            <a:endParaRPr kumimoji="1" lang="zh-CN" altLang="en-US" sz="2400" b="1" dirty="0">
              <a:solidFill>
                <a:schemeClr val="bg1"/>
              </a:solidFill>
              <a:latin typeface="Source Han Sans CN Bold" panose="020B0500000000000000" pitchFamily="34" charset="-128"/>
              <a:ea typeface="Source Han Sans CN Bold" panose="020B0500000000000000" pitchFamily="34" charset="-128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3819</Words>
  <Application>WPS 演示</Application>
  <PresentationFormat/>
  <Paragraphs>497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方正雅意黑 GB18030L2</vt:lpstr>
      <vt:lpstr>Calibri</vt:lpstr>
      <vt:lpstr>Helvetica Neue</vt:lpstr>
      <vt:lpstr>宋体</vt:lpstr>
      <vt:lpstr>Arial Unicode MS</vt:lpstr>
      <vt:lpstr>汉仪书宋二KW</vt:lpstr>
      <vt:lpstr>微软雅黑</vt:lpstr>
      <vt:lpstr>微软雅黑</vt:lpstr>
      <vt:lpstr>Helvetica Neue</vt:lpstr>
      <vt:lpstr>Source Han Sans CN Light</vt:lpstr>
      <vt:lpstr>苹方-简</vt:lpstr>
      <vt:lpstr>Source Han Sans CN Regular</vt:lpstr>
      <vt:lpstr>Source Han Sans CN Bold</vt:lpstr>
      <vt:lpstr>冬青黑体简体中文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A梦Yi~</cp:lastModifiedBy>
  <cp:revision>3</cp:revision>
  <dcterms:created xsi:type="dcterms:W3CDTF">2026-08-20T10:07:07Z</dcterms:created>
  <dcterms:modified xsi:type="dcterms:W3CDTF">2026-08-20T10:07:07Z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13EA99F1CDF82A15BD87866A7F5A7E07_42</vt:lpwstr>
  </property>
</Properties>
</file>